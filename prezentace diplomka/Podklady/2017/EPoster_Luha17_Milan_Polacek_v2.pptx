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18719800" cy="26100088"/>
  <p:notesSz cx="6858000" cy="9144000"/>
  <p:defaultTextStyle>
    <a:defPPr>
      <a:defRPr lang="en-US"/>
    </a:defPPr>
    <a:lvl1pPr marL="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1pPr>
    <a:lvl2pPr marL="42414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2pPr>
    <a:lvl3pPr marL="848280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3pPr>
    <a:lvl4pPr marL="127242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4pPr>
    <a:lvl5pPr marL="169656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5pPr>
    <a:lvl6pPr marL="212070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6pPr>
    <a:lvl7pPr marL="254484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7pPr>
    <a:lvl8pPr marL="296898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8pPr>
    <a:lvl9pPr marL="3393121" algn="l" defTabSz="424140" rtl="0" eaLnBrk="1" latinLnBrk="0" hangingPunct="1">
      <a:defRPr sz="16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26" userDrawn="1">
          <p15:clr>
            <a:srgbClr val="A4A3A4"/>
          </p15:clr>
        </p15:guide>
        <p15:guide id="2" orient="horz" pos="82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CED"/>
    <a:srgbClr val="222292"/>
    <a:srgbClr val="2B2BBB"/>
    <a:srgbClr val="FFFFFF"/>
    <a:srgbClr val="9ED98E"/>
    <a:srgbClr val="68A7EF"/>
    <a:srgbClr val="006000"/>
    <a:srgbClr val="1A8A25"/>
    <a:srgbClr val="4141D3"/>
    <a:srgbClr val="1A1A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Bez stylu, bez mřížky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Styl s motivem 2 – zvýraznění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Styl s motivem 1 – zvýraznění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882" y="-96"/>
      </p:cViewPr>
      <p:guideLst>
        <p:guide pos="226"/>
        <p:guide orient="horz" pos="82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03985" y="4271475"/>
            <a:ext cx="15911830" cy="9086697"/>
          </a:xfrm>
        </p:spPr>
        <p:txBody>
          <a:bodyPr anchor="b"/>
          <a:lstStyle>
            <a:lvl1pPr algn="ctr">
              <a:defRPr sz="12283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975" y="13708590"/>
            <a:ext cx="14039850" cy="6301478"/>
          </a:xfrm>
        </p:spPr>
        <p:txBody>
          <a:bodyPr/>
          <a:lstStyle>
            <a:lvl1pPr marL="0" indent="0" algn="ctr">
              <a:buNone/>
              <a:defRPr sz="4913"/>
            </a:lvl1pPr>
            <a:lvl2pPr marL="935980" indent="0" algn="ctr">
              <a:buNone/>
              <a:defRPr sz="4094"/>
            </a:lvl2pPr>
            <a:lvl3pPr marL="1871960" indent="0" algn="ctr">
              <a:buNone/>
              <a:defRPr sz="3685"/>
            </a:lvl3pPr>
            <a:lvl4pPr marL="2807940" indent="0" algn="ctr">
              <a:buNone/>
              <a:defRPr sz="3276"/>
            </a:lvl4pPr>
            <a:lvl5pPr marL="3743919" indent="0" algn="ctr">
              <a:buNone/>
              <a:defRPr sz="3276"/>
            </a:lvl5pPr>
            <a:lvl6pPr marL="4679899" indent="0" algn="ctr">
              <a:buNone/>
              <a:defRPr sz="3276"/>
            </a:lvl6pPr>
            <a:lvl7pPr marL="5615879" indent="0" algn="ctr">
              <a:buNone/>
              <a:defRPr sz="3276"/>
            </a:lvl7pPr>
            <a:lvl8pPr marL="6551859" indent="0" algn="ctr">
              <a:buNone/>
              <a:defRPr sz="3276"/>
            </a:lvl8pPr>
            <a:lvl9pPr marL="7487839" indent="0" algn="ctr">
              <a:buNone/>
              <a:defRPr sz="3276"/>
            </a:lvl9pPr>
          </a:lstStyle>
          <a:p>
            <a:r>
              <a:rPr lang="cs-CZ" smtClean="0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5027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6435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237" y="6506904"/>
            <a:ext cx="16145828" cy="10856910"/>
          </a:xfrm>
        </p:spPr>
        <p:txBody>
          <a:bodyPr anchor="b"/>
          <a:lstStyle>
            <a:lvl1pPr>
              <a:defRPr sz="12283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7237" y="17466525"/>
            <a:ext cx="16145828" cy="5709392"/>
          </a:xfrm>
        </p:spPr>
        <p:txBody>
          <a:bodyPr/>
          <a:lstStyle>
            <a:lvl1pPr marL="0" indent="0">
              <a:buNone/>
              <a:defRPr sz="4913">
                <a:solidFill>
                  <a:schemeClr val="tx1"/>
                </a:solidFill>
              </a:defRPr>
            </a:lvl1pPr>
            <a:lvl2pPr marL="935980" indent="0">
              <a:buNone/>
              <a:defRPr sz="4094">
                <a:solidFill>
                  <a:schemeClr val="tx1">
                    <a:tint val="75000"/>
                  </a:schemeClr>
                </a:solidFill>
              </a:defRPr>
            </a:lvl2pPr>
            <a:lvl3pPr marL="1871960" indent="0">
              <a:buNone/>
              <a:defRPr sz="3685">
                <a:solidFill>
                  <a:schemeClr val="tx1">
                    <a:tint val="75000"/>
                  </a:schemeClr>
                </a:solidFill>
              </a:defRPr>
            </a:lvl3pPr>
            <a:lvl4pPr marL="2807940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4pPr>
            <a:lvl5pPr marL="374391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5pPr>
            <a:lvl6pPr marL="467989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6pPr>
            <a:lvl7pPr marL="561587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7pPr>
            <a:lvl8pPr marL="655185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8pPr>
            <a:lvl9pPr marL="7487839" indent="0">
              <a:buNone/>
              <a:defRPr sz="32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10325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6986" y="6947940"/>
            <a:ext cx="7955915" cy="16560266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76899" y="6947940"/>
            <a:ext cx="7955915" cy="16560266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348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389594"/>
            <a:ext cx="16145828" cy="5044811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9426" y="6398148"/>
            <a:ext cx="7919352" cy="3135634"/>
          </a:xfrm>
        </p:spPr>
        <p:txBody>
          <a:bodyPr anchor="b"/>
          <a:lstStyle>
            <a:lvl1pPr marL="0" indent="0">
              <a:buNone/>
              <a:defRPr sz="4913" b="1"/>
            </a:lvl1pPr>
            <a:lvl2pPr marL="935980" indent="0">
              <a:buNone/>
              <a:defRPr sz="4094" b="1"/>
            </a:lvl2pPr>
            <a:lvl3pPr marL="1871960" indent="0">
              <a:buNone/>
              <a:defRPr sz="3685" b="1"/>
            </a:lvl3pPr>
            <a:lvl4pPr marL="2807940" indent="0">
              <a:buNone/>
              <a:defRPr sz="3276" b="1"/>
            </a:lvl4pPr>
            <a:lvl5pPr marL="3743919" indent="0">
              <a:buNone/>
              <a:defRPr sz="3276" b="1"/>
            </a:lvl5pPr>
            <a:lvl6pPr marL="4679899" indent="0">
              <a:buNone/>
              <a:defRPr sz="3276" b="1"/>
            </a:lvl6pPr>
            <a:lvl7pPr marL="5615879" indent="0">
              <a:buNone/>
              <a:defRPr sz="3276" b="1"/>
            </a:lvl7pPr>
            <a:lvl8pPr marL="6551859" indent="0">
              <a:buNone/>
              <a:defRPr sz="3276" b="1"/>
            </a:lvl8pPr>
            <a:lvl9pPr marL="7487839" indent="0">
              <a:buNone/>
              <a:defRPr sz="3276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9426" y="9533782"/>
            <a:ext cx="7919352" cy="1402275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476900" y="6398148"/>
            <a:ext cx="7958353" cy="3135634"/>
          </a:xfrm>
        </p:spPr>
        <p:txBody>
          <a:bodyPr anchor="b"/>
          <a:lstStyle>
            <a:lvl1pPr marL="0" indent="0">
              <a:buNone/>
              <a:defRPr sz="4913" b="1"/>
            </a:lvl1pPr>
            <a:lvl2pPr marL="935980" indent="0">
              <a:buNone/>
              <a:defRPr sz="4094" b="1"/>
            </a:lvl2pPr>
            <a:lvl3pPr marL="1871960" indent="0">
              <a:buNone/>
              <a:defRPr sz="3685" b="1"/>
            </a:lvl3pPr>
            <a:lvl4pPr marL="2807940" indent="0">
              <a:buNone/>
              <a:defRPr sz="3276" b="1"/>
            </a:lvl4pPr>
            <a:lvl5pPr marL="3743919" indent="0">
              <a:buNone/>
              <a:defRPr sz="3276" b="1"/>
            </a:lvl5pPr>
            <a:lvl6pPr marL="4679899" indent="0">
              <a:buNone/>
              <a:defRPr sz="3276" b="1"/>
            </a:lvl6pPr>
            <a:lvl7pPr marL="5615879" indent="0">
              <a:buNone/>
              <a:defRPr sz="3276" b="1"/>
            </a:lvl7pPr>
            <a:lvl8pPr marL="6551859" indent="0">
              <a:buNone/>
              <a:defRPr sz="3276" b="1"/>
            </a:lvl8pPr>
            <a:lvl9pPr marL="7487839" indent="0">
              <a:buNone/>
              <a:defRPr sz="3276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476900" y="9533782"/>
            <a:ext cx="7958353" cy="1402275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01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8186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41261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740006"/>
            <a:ext cx="6037623" cy="6090021"/>
          </a:xfrm>
        </p:spPr>
        <p:txBody>
          <a:bodyPr anchor="b"/>
          <a:lstStyle>
            <a:lvl1pPr>
              <a:defRPr sz="6551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8353" y="3757935"/>
            <a:ext cx="9476899" cy="18547979"/>
          </a:xfrm>
        </p:spPr>
        <p:txBody>
          <a:bodyPr/>
          <a:lstStyle>
            <a:lvl1pPr>
              <a:defRPr sz="6551"/>
            </a:lvl1pPr>
            <a:lvl2pPr>
              <a:defRPr sz="5732"/>
            </a:lvl2pPr>
            <a:lvl3pPr>
              <a:defRPr sz="4913"/>
            </a:lvl3pPr>
            <a:lvl4pPr>
              <a:defRPr sz="4094"/>
            </a:lvl4pPr>
            <a:lvl5pPr>
              <a:defRPr sz="4094"/>
            </a:lvl5pPr>
            <a:lvl6pPr>
              <a:defRPr sz="4094"/>
            </a:lvl6pPr>
            <a:lvl7pPr>
              <a:defRPr sz="4094"/>
            </a:lvl7pPr>
            <a:lvl8pPr>
              <a:defRPr sz="4094"/>
            </a:lvl8pPr>
            <a:lvl9pPr>
              <a:defRPr sz="4094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9424" y="7830027"/>
            <a:ext cx="6037623" cy="14506092"/>
          </a:xfrm>
        </p:spPr>
        <p:txBody>
          <a:bodyPr/>
          <a:lstStyle>
            <a:lvl1pPr marL="0" indent="0">
              <a:buNone/>
              <a:defRPr sz="3276"/>
            </a:lvl1pPr>
            <a:lvl2pPr marL="935980" indent="0">
              <a:buNone/>
              <a:defRPr sz="2866"/>
            </a:lvl2pPr>
            <a:lvl3pPr marL="1871960" indent="0">
              <a:buNone/>
              <a:defRPr sz="2457"/>
            </a:lvl3pPr>
            <a:lvl4pPr marL="2807940" indent="0">
              <a:buNone/>
              <a:defRPr sz="2047"/>
            </a:lvl4pPr>
            <a:lvl5pPr marL="3743919" indent="0">
              <a:buNone/>
              <a:defRPr sz="2047"/>
            </a:lvl5pPr>
            <a:lvl6pPr marL="4679899" indent="0">
              <a:buNone/>
              <a:defRPr sz="2047"/>
            </a:lvl6pPr>
            <a:lvl7pPr marL="5615879" indent="0">
              <a:buNone/>
              <a:defRPr sz="2047"/>
            </a:lvl7pPr>
            <a:lvl8pPr marL="6551859" indent="0">
              <a:buNone/>
              <a:defRPr sz="2047"/>
            </a:lvl8pPr>
            <a:lvl9pPr marL="7487839" indent="0">
              <a:buNone/>
              <a:defRPr sz="2047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3346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9424" y="1740006"/>
            <a:ext cx="6037623" cy="6090021"/>
          </a:xfrm>
        </p:spPr>
        <p:txBody>
          <a:bodyPr anchor="b"/>
          <a:lstStyle>
            <a:lvl1pPr>
              <a:defRPr sz="6551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958353" y="3757935"/>
            <a:ext cx="9476899" cy="18547979"/>
          </a:xfrm>
        </p:spPr>
        <p:txBody>
          <a:bodyPr anchor="t"/>
          <a:lstStyle>
            <a:lvl1pPr marL="0" indent="0">
              <a:buNone/>
              <a:defRPr sz="6551"/>
            </a:lvl1pPr>
            <a:lvl2pPr marL="935980" indent="0">
              <a:buNone/>
              <a:defRPr sz="5732"/>
            </a:lvl2pPr>
            <a:lvl3pPr marL="1871960" indent="0">
              <a:buNone/>
              <a:defRPr sz="4913"/>
            </a:lvl3pPr>
            <a:lvl4pPr marL="2807940" indent="0">
              <a:buNone/>
              <a:defRPr sz="4094"/>
            </a:lvl4pPr>
            <a:lvl5pPr marL="3743919" indent="0">
              <a:buNone/>
              <a:defRPr sz="4094"/>
            </a:lvl5pPr>
            <a:lvl6pPr marL="4679899" indent="0">
              <a:buNone/>
              <a:defRPr sz="4094"/>
            </a:lvl6pPr>
            <a:lvl7pPr marL="5615879" indent="0">
              <a:buNone/>
              <a:defRPr sz="4094"/>
            </a:lvl7pPr>
            <a:lvl8pPr marL="6551859" indent="0">
              <a:buNone/>
              <a:defRPr sz="4094"/>
            </a:lvl8pPr>
            <a:lvl9pPr marL="7487839" indent="0">
              <a:buNone/>
              <a:defRPr sz="4094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9424" y="7830027"/>
            <a:ext cx="6037623" cy="14506092"/>
          </a:xfrm>
        </p:spPr>
        <p:txBody>
          <a:bodyPr/>
          <a:lstStyle>
            <a:lvl1pPr marL="0" indent="0">
              <a:buNone/>
              <a:defRPr sz="3276"/>
            </a:lvl1pPr>
            <a:lvl2pPr marL="935980" indent="0">
              <a:buNone/>
              <a:defRPr sz="2866"/>
            </a:lvl2pPr>
            <a:lvl3pPr marL="1871960" indent="0">
              <a:buNone/>
              <a:defRPr sz="2457"/>
            </a:lvl3pPr>
            <a:lvl4pPr marL="2807940" indent="0">
              <a:buNone/>
              <a:defRPr sz="2047"/>
            </a:lvl4pPr>
            <a:lvl5pPr marL="3743919" indent="0">
              <a:buNone/>
              <a:defRPr sz="2047"/>
            </a:lvl5pPr>
            <a:lvl6pPr marL="4679899" indent="0">
              <a:buNone/>
              <a:defRPr sz="2047"/>
            </a:lvl6pPr>
            <a:lvl7pPr marL="5615879" indent="0">
              <a:buNone/>
              <a:defRPr sz="2047"/>
            </a:lvl7pPr>
            <a:lvl8pPr marL="6551859" indent="0">
              <a:buNone/>
              <a:defRPr sz="2047"/>
            </a:lvl8pPr>
            <a:lvl9pPr marL="7487839" indent="0">
              <a:buNone/>
              <a:defRPr sz="2047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00810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3196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96358" y="1389588"/>
            <a:ext cx="4036457" cy="2211861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86987" y="1389588"/>
            <a:ext cx="11875373" cy="22118618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9230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6986" y="1389594"/>
            <a:ext cx="16145828" cy="50448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6986" y="6947940"/>
            <a:ext cx="16145828" cy="16560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6986" y="24190921"/>
            <a:ext cx="4211955" cy="1389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F1330-AC85-4D1F-B7FB-767AB07AC3D6}" type="datetimeFigureOut">
              <a:rPr lang="cs-CZ" smtClean="0"/>
              <a:t>31. 3. 2017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00934" y="24190921"/>
            <a:ext cx="6317933" cy="1389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220859" y="24190921"/>
            <a:ext cx="4211955" cy="13895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5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42E5B-4157-4A5D-8826-6C902A884AC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19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871960" rtl="0" eaLnBrk="1" latinLnBrk="0" hangingPunct="1">
        <a:lnSpc>
          <a:spcPct val="90000"/>
        </a:lnSpc>
        <a:spcBef>
          <a:spcPct val="0"/>
        </a:spcBef>
        <a:buNone/>
        <a:defRPr sz="90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7990" indent="-467990" algn="l" defTabSz="1871960" rtl="0" eaLnBrk="1" latinLnBrk="0" hangingPunct="1">
        <a:lnSpc>
          <a:spcPct val="90000"/>
        </a:lnSpc>
        <a:spcBef>
          <a:spcPts val="2047"/>
        </a:spcBef>
        <a:buFont typeface="Arial" panose="020B0604020202020204" pitchFamily="34" charset="0"/>
        <a:buChar char="•"/>
        <a:defRPr sz="5732" kern="1200">
          <a:solidFill>
            <a:schemeClr val="tx1"/>
          </a:solidFill>
          <a:latin typeface="+mn-lt"/>
          <a:ea typeface="+mn-ea"/>
          <a:cs typeface="+mn-cs"/>
        </a:defRPr>
      </a:lvl1pPr>
      <a:lvl2pPr marL="1403970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4913" kern="1200">
          <a:solidFill>
            <a:schemeClr val="tx1"/>
          </a:solidFill>
          <a:latin typeface="+mn-lt"/>
          <a:ea typeface="+mn-ea"/>
          <a:cs typeface="+mn-cs"/>
        </a:defRPr>
      </a:lvl2pPr>
      <a:lvl3pPr marL="2339950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4094" kern="1200">
          <a:solidFill>
            <a:schemeClr val="tx1"/>
          </a:solidFill>
          <a:latin typeface="+mn-lt"/>
          <a:ea typeface="+mn-ea"/>
          <a:cs typeface="+mn-cs"/>
        </a:defRPr>
      </a:lvl3pPr>
      <a:lvl4pPr marL="327592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4pPr>
      <a:lvl5pPr marL="421190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5pPr>
      <a:lvl6pPr marL="514788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6pPr>
      <a:lvl7pPr marL="608386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7pPr>
      <a:lvl8pPr marL="701984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8pPr>
      <a:lvl9pPr marL="7955829" indent="-467990" algn="l" defTabSz="1871960" rtl="0" eaLnBrk="1" latinLnBrk="0" hangingPunct="1">
        <a:lnSpc>
          <a:spcPct val="90000"/>
        </a:lnSpc>
        <a:spcBef>
          <a:spcPts val="1024"/>
        </a:spcBef>
        <a:buFont typeface="Arial" panose="020B0604020202020204" pitchFamily="34" charset="0"/>
        <a:buChar char="•"/>
        <a:defRPr sz="36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1pPr>
      <a:lvl2pPr marL="93598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2pPr>
      <a:lvl3pPr marL="187196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3pPr>
      <a:lvl4pPr marL="2807940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4pPr>
      <a:lvl5pPr marL="374391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5pPr>
      <a:lvl6pPr marL="467989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6pPr>
      <a:lvl7pPr marL="561587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7pPr>
      <a:lvl8pPr marL="655185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8pPr>
      <a:lvl9pPr marL="7487839" algn="l" defTabSz="1871960" rtl="0" eaLnBrk="1" latinLnBrk="0" hangingPunct="1">
        <a:defRPr sz="36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mailto:polacmi1@fel.cvut.cz" TargetMode="External"/><Relationship Id="rId4" Type="http://schemas.openxmlformats.org/officeDocument/2006/relationships/image" Target="../media/image2.gif"/><Relationship Id="rId9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Zaoblený obdélník 62"/>
          <p:cNvSpPr>
            <a:spLocks noChangeAspect="1"/>
          </p:cNvSpPr>
          <p:nvPr/>
        </p:nvSpPr>
        <p:spPr>
          <a:xfrm>
            <a:off x="469411" y="15857974"/>
            <a:ext cx="17793293" cy="6037773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 dirty="0"/>
          </a:p>
        </p:txBody>
      </p:sp>
      <p:sp>
        <p:nvSpPr>
          <p:cNvPr id="35" name="Zaoblený obdélník 34"/>
          <p:cNvSpPr>
            <a:spLocks noChangeAspect="1"/>
          </p:cNvSpPr>
          <p:nvPr/>
        </p:nvSpPr>
        <p:spPr>
          <a:xfrm>
            <a:off x="486794" y="4676872"/>
            <a:ext cx="17793293" cy="2895610"/>
          </a:xfrm>
          <a:prstGeom prst="roundRect">
            <a:avLst>
              <a:gd name="adj" fmla="val 14097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sp>
        <p:nvSpPr>
          <p:cNvPr id="56" name="Zaoblený obdélník 55"/>
          <p:cNvSpPr>
            <a:spLocks noChangeAspect="1"/>
          </p:cNvSpPr>
          <p:nvPr/>
        </p:nvSpPr>
        <p:spPr>
          <a:xfrm>
            <a:off x="469412" y="8057361"/>
            <a:ext cx="17793293" cy="7437732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sp>
        <p:nvSpPr>
          <p:cNvPr id="66" name="Zaoblený obdélník 65"/>
          <p:cNvSpPr>
            <a:spLocks noChangeAspect="1"/>
          </p:cNvSpPr>
          <p:nvPr/>
        </p:nvSpPr>
        <p:spPr>
          <a:xfrm>
            <a:off x="484058" y="22312252"/>
            <a:ext cx="17793293" cy="2936996"/>
          </a:xfrm>
          <a:prstGeom prst="roundRect">
            <a:avLst>
              <a:gd name="adj" fmla="val 4868"/>
            </a:avLst>
          </a:prstGeom>
          <a:solidFill>
            <a:schemeClr val="bg1"/>
          </a:solidFill>
          <a:ln w="152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/>
          </a:p>
        </p:txBody>
      </p:sp>
      <p:sp>
        <p:nvSpPr>
          <p:cNvPr id="34" name="Zaoblený obdélník 33"/>
          <p:cNvSpPr>
            <a:spLocks noChangeAspect="1"/>
          </p:cNvSpPr>
          <p:nvPr/>
        </p:nvSpPr>
        <p:spPr>
          <a:xfrm>
            <a:off x="565570" y="431088"/>
            <a:ext cx="17687678" cy="385219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 w="1524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sz="635" dirty="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986780" y="1062631"/>
            <a:ext cx="17069287" cy="656079"/>
          </a:xfrm>
          <a:noFill/>
          <a:ln w="889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anchor="ctr">
            <a:noAutofit/>
          </a:bodyPr>
          <a:lstStyle/>
          <a:p>
            <a:r>
              <a:rPr lang="cs-CZ" sz="4000" b="1" dirty="0">
                <a:solidFill>
                  <a:schemeClr val="bg1"/>
                </a:solidFill>
              </a:rPr>
              <a:t>Aplikace pro automatické vyhledávání situací zvýšené fyzické aktivity v datech získaných z krokoměru a jejich komparace s hodnotami glykémie ze CGM u pacientů s diabetes </a:t>
            </a:r>
            <a:r>
              <a:rPr lang="cs-CZ" sz="4000" b="1" dirty="0" err="1">
                <a:solidFill>
                  <a:schemeClr val="bg1"/>
                </a:solidFill>
              </a:rPr>
              <a:t>mellitus</a:t>
            </a:r>
            <a:endParaRPr lang="cs-CZ" sz="4000" dirty="0">
              <a:solidFill>
                <a:schemeClr val="bg1"/>
              </a:solidFill>
            </a:endParaRPr>
          </a:p>
        </p:txBody>
      </p:sp>
      <p:sp>
        <p:nvSpPr>
          <p:cNvPr id="3" name="Podnadpis 2"/>
          <p:cNvSpPr>
            <a:spLocks noGrp="1" noChangeAspect="1"/>
          </p:cNvSpPr>
          <p:nvPr>
            <p:ph type="subTitle" idx="1"/>
          </p:nvPr>
        </p:nvSpPr>
        <p:spPr>
          <a:xfrm>
            <a:off x="4200019" y="2544746"/>
            <a:ext cx="10603636" cy="588225"/>
          </a:xfrm>
        </p:spPr>
        <p:txBody>
          <a:bodyPr anchor="ctr">
            <a:noAutofit/>
          </a:bodyPr>
          <a:lstStyle/>
          <a:p>
            <a:r>
              <a:rPr lang="cs-CZ" sz="2000" b="1" u="sng" dirty="0">
                <a:solidFill>
                  <a:schemeClr val="bg1"/>
                </a:solidFill>
              </a:rPr>
              <a:t>M. Poláček</a:t>
            </a:r>
            <a:r>
              <a:rPr lang="cs-CZ" sz="2000" b="1" u="sng" baseline="30000" dirty="0">
                <a:solidFill>
                  <a:schemeClr val="bg1"/>
                </a:solidFill>
              </a:rPr>
              <a:t>1</a:t>
            </a:r>
            <a:r>
              <a:rPr lang="cs-CZ" sz="2000" b="1" dirty="0">
                <a:solidFill>
                  <a:schemeClr val="bg1"/>
                </a:solidFill>
              </a:rPr>
              <a:t>, A. Holubová</a:t>
            </a:r>
            <a:r>
              <a:rPr lang="cs-CZ" sz="2000" b="1" baseline="30000" dirty="0">
                <a:solidFill>
                  <a:schemeClr val="bg1"/>
                </a:solidFill>
              </a:rPr>
              <a:t>2</a:t>
            </a:r>
            <a:r>
              <a:rPr lang="cs-CZ" sz="2000" b="1" dirty="0">
                <a:solidFill>
                  <a:schemeClr val="bg1"/>
                </a:solidFill>
              </a:rPr>
              <a:t>, J. Mužík</a:t>
            </a:r>
            <a:r>
              <a:rPr lang="cs-CZ" sz="2000" b="1" baseline="30000" dirty="0">
                <a:solidFill>
                  <a:schemeClr val="bg1"/>
                </a:solidFill>
              </a:rPr>
              <a:t>1,2</a:t>
            </a:r>
            <a:r>
              <a:rPr lang="cs-CZ" sz="2000" b="1" dirty="0">
                <a:solidFill>
                  <a:schemeClr val="bg1"/>
                </a:solidFill>
              </a:rPr>
              <a:t>, K. Hána</a:t>
            </a:r>
            <a:r>
              <a:rPr lang="cs-CZ" sz="2000" b="1" baseline="30000" dirty="0">
                <a:solidFill>
                  <a:schemeClr val="bg1"/>
                </a:solidFill>
              </a:rPr>
              <a:t>2</a:t>
            </a:r>
            <a:r>
              <a:rPr lang="cs-CZ" sz="2000" b="1" dirty="0">
                <a:solidFill>
                  <a:schemeClr val="bg1"/>
                </a:solidFill>
              </a:rPr>
              <a:t>, P. Smrčka</a:t>
            </a:r>
            <a:r>
              <a:rPr lang="cs-CZ" sz="2000" b="1" baseline="30000" dirty="0">
                <a:solidFill>
                  <a:schemeClr val="bg1"/>
                </a:solidFill>
              </a:rPr>
              <a:t>2</a:t>
            </a:r>
            <a:r>
              <a:rPr lang="cs-CZ" sz="2000" b="1" dirty="0">
                <a:solidFill>
                  <a:schemeClr val="bg1"/>
                </a:solidFill>
              </a:rPr>
              <a:t>, M. Kvapil</a:t>
            </a:r>
            <a:r>
              <a:rPr lang="cs-CZ" sz="2000" b="1" baseline="30000" dirty="0">
                <a:solidFill>
                  <a:schemeClr val="bg1"/>
                </a:solidFill>
              </a:rPr>
              <a:t>3</a:t>
            </a:r>
            <a:r>
              <a:rPr lang="cs-CZ" sz="2000" b="1" dirty="0">
                <a:solidFill>
                  <a:schemeClr val="bg1"/>
                </a:solidFill>
              </a:rPr>
              <a:t>, J. Brož</a:t>
            </a:r>
            <a:r>
              <a:rPr lang="cs-CZ" sz="2000" b="1" baseline="30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" name="Obdélník 3"/>
          <p:cNvSpPr>
            <a:spLocks noChangeAspect="1"/>
          </p:cNvSpPr>
          <p:nvPr/>
        </p:nvSpPr>
        <p:spPr>
          <a:xfrm>
            <a:off x="4285715" y="3148248"/>
            <a:ext cx="10391734" cy="9233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cs-CZ" sz="1800" baseline="30000" dirty="0">
                <a:solidFill>
                  <a:schemeClr val="bg1"/>
                </a:solidFill>
              </a:rPr>
              <a:t>1</a:t>
            </a:r>
            <a:r>
              <a:rPr lang="cs-CZ" sz="1800" dirty="0">
                <a:solidFill>
                  <a:schemeClr val="bg1"/>
                </a:solidFill>
              </a:rPr>
              <a:t> Centrum podpory aplikačních výstupů a spin-</a:t>
            </a:r>
            <a:r>
              <a:rPr lang="cs-CZ" sz="1800" dirty="0" err="1">
                <a:solidFill>
                  <a:schemeClr val="bg1"/>
                </a:solidFill>
              </a:rPr>
              <a:t>off</a:t>
            </a:r>
            <a:r>
              <a:rPr lang="cs-CZ" sz="1800" dirty="0">
                <a:solidFill>
                  <a:schemeClr val="bg1"/>
                </a:solidFill>
              </a:rPr>
              <a:t> firem, 1. lékařská fakulta, Univerzita Karlova v Praze </a:t>
            </a:r>
          </a:p>
          <a:p>
            <a:pPr algn="ctr"/>
            <a:r>
              <a:rPr lang="cs-CZ" sz="1800" baseline="30000" dirty="0">
                <a:solidFill>
                  <a:schemeClr val="bg1"/>
                </a:solidFill>
              </a:rPr>
              <a:t>2</a:t>
            </a:r>
            <a:r>
              <a:rPr lang="cs-CZ" sz="1800" dirty="0">
                <a:solidFill>
                  <a:schemeClr val="bg1"/>
                </a:solidFill>
              </a:rPr>
              <a:t> Fakulta biomedicínského inženýrství, ČVUT, </a:t>
            </a:r>
            <a:r>
              <a:rPr lang="cs-CZ" sz="1800" dirty="0">
                <a:solidFill>
                  <a:schemeClr val="bg1"/>
                </a:solidFill>
              </a:rPr>
              <a:t>Praha</a:t>
            </a:r>
            <a:endParaRPr lang="cs-CZ" sz="1800" dirty="0">
              <a:solidFill>
                <a:schemeClr val="bg1"/>
              </a:solidFill>
            </a:endParaRPr>
          </a:p>
          <a:p>
            <a:pPr algn="ctr"/>
            <a:r>
              <a:rPr lang="cs-CZ" sz="1800" baseline="30000" dirty="0">
                <a:solidFill>
                  <a:schemeClr val="bg1"/>
                </a:solidFill>
              </a:rPr>
              <a:t>3</a:t>
            </a:r>
            <a:r>
              <a:rPr lang="cs-CZ" sz="1800" dirty="0">
                <a:solidFill>
                  <a:schemeClr val="bg1"/>
                </a:solidFill>
              </a:rPr>
              <a:t> Interní klinika 2. LF UK a FN Motol, Praha </a:t>
            </a:r>
          </a:p>
        </p:txBody>
      </p:sp>
      <p:sp>
        <p:nvSpPr>
          <p:cNvPr id="6" name="TextovéPole 5"/>
          <p:cNvSpPr txBox="1">
            <a:spLocks noChangeAspect="1"/>
          </p:cNvSpPr>
          <p:nvPr/>
        </p:nvSpPr>
        <p:spPr>
          <a:xfrm>
            <a:off x="7027394" y="8760555"/>
            <a:ext cx="10750094" cy="3170099"/>
          </a:xfrm>
          <a:prstGeom prst="rect">
            <a:avLst/>
          </a:prstGeom>
          <a:noFill/>
          <a:ln w="88900" cap="rnd">
            <a:solidFill>
              <a:schemeClr val="bg1"/>
            </a:solidFill>
          </a:ln>
        </p:spPr>
        <p:txBody>
          <a:bodyPr wrap="square" rtlCol="0" anchor="ctr">
            <a:spAutoFit/>
          </a:bodyPr>
          <a:lstStyle/>
          <a:p>
            <a:pPr algn="just"/>
            <a:r>
              <a:rPr lang="cs-CZ" sz="2000" dirty="0"/>
              <a:t>Vytvořený modul </a:t>
            </a:r>
            <a:r>
              <a:rPr lang="cs-CZ" sz="2000" dirty="0"/>
              <a:t>generuje na základě individuálního nastavení vstupních parametrů (tj. rozmezí velikosti intenzity fyzické aktivity, velikosti poklesu glykémie a doba trvání tohoto poklesu) seznam situací, které vyhovují nastaveným podmínkám. Každá nalezená situace obsahuje kromě informace o celkovém počtu nachozených kroků, velikosti poklesu </a:t>
            </a:r>
            <a:r>
              <a:rPr lang="cs-CZ" sz="2000" dirty="0"/>
              <a:t>glykémie</a:t>
            </a:r>
            <a:r>
              <a:rPr lang="cs-CZ" sz="2000" dirty="0"/>
              <a:t> </a:t>
            </a:r>
            <a:r>
              <a:rPr lang="cs-CZ" sz="2000" dirty="0"/>
              <a:t>a doby </a:t>
            </a:r>
            <a:r>
              <a:rPr lang="cs-CZ" sz="2000" dirty="0"/>
              <a:t>jejího </a:t>
            </a:r>
            <a:r>
              <a:rPr lang="cs-CZ" sz="2000" dirty="0"/>
              <a:t>trvání, také </a:t>
            </a:r>
            <a:r>
              <a:rPr lang="cs-CZ" sz="2000" dirty="0"/>
              <a:t>odkaz pro okamžité zobrazení situace v grafické podobě v systému Diani se zvýrazněním nalezeného </a:t>
            </a:r>
            <a:r>
              <a:rPr lang="cs-CZ" sz="2000" dirty="0"/>
              <a:t>úseku s poklesem glykémie. Porovnáním nalezeného poklesu spolu s informacemi o aplikovaných dávkách inzulínu, přijatých sacharidech a fyzické aktivitě, které se zobrazují v grafu pod nalezeným segmentem, lze danou situaci hlouběji analyzovat a nalézt důvody vzniku glykemického výkyvu. </a:t>
            </a:r>
          </a:p>
          <a:p>
            <a:pPr algn="just"/>
            <a:r>
              <a:rPr lang="cs-CZ" sz="2000" dirty="0"/>
              <a:t>Výstupem systému je tedy souhrnná tabulka se seznamem situací vyhovujícím zadaným vstupním parametrům, a dále vizualizace nalezených segmentů v grafech s celodenními pacientovými záznamy.</a:t>
            </a:r>
            <a:endParaRPr lang="cs-CZ" sz="2000" dirty="0"/>
          </a:p>
        </p:txBody>
      </p:sp>
      <p:sp>
        <p:nvSpPr>
          <p:cNvPr id="7" name="TextovéPole 6"/>
          <p:cNvSpPr txBox="1">
            <a:spLocks noChangeAspect="1"/>
          </p:cNvSpPr>
          <p:nvPr/>
        </p:nvSpPr>
        <p:spPr>
          <a:xfrm>
            <a:off x="7101454" y="16805014"/>
            <a:ext cx="444621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sz="2000" dirty="0"/>
              <a:t>Aplikace byla testována u tří pacientů, kteří používali kontinuální monitoraci glykémie spolu s krokoměrem dohromady 169 dní (117, 30 a 22 jednotlivě u každého pacienta). Při nastavení krokové frekvence od 300 do 500 kroků/5min, poklesu glykémie větším než 2 mmol/l a době trvání poklesu delší než 20 minut bylo nalezeno 54 událostí splňujících kritéria (27, 10, 17 jednotlivě u každého pacienta). U těchto událostí došlo celkem ve 12 případech k hypoglykémii a v 9 případech poklesla glykémie do intervalu od 4-5 mmol/l.</a:t>
            </a:r>
          </a:p>
        </p:txBody>
      </p:sp>
      <p:sp>
        <p:nvSpPr>
          <p:cNvPr id="8" name="TextovéPole 7"/>
          <p:cNvSpPr txBox="1">
            <a:spLocks noChangeAspect="1"/>
          </p:cNvSpPr>
          <p:nvPr/>
        </p:nvSpPr>
        <p:spPr>
          <a:xfrm>
            <a:off x="986780" y="23050173"/>
            <a:ext cx="167907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sz="2000" dirty="0"/>
              <a:t>Využíváním aplikace pro automatické vyhledávání situací zvýšené fyzické aktivity související s poklesem glykémie se může </a:t>
            </a:r>
            <a:r>
              <a:rPr lang="cs-CZ" sz="2000" dirty="0"/>
              <a:t>pacient snadněji </a:t>
            </a:r>
            <a:r>
              <a:rPr lang="cs-CZ" sz="2000" dirty="0"/>
              <a:t>poučit z předešlých podobných situací, při nichž došlo k nežádoucím výkyvům glykémie, a provést změny léčebného režimu tak, aby bylo takovýmto výkyvům v příští podobné situaci již zamezeno. Toto řešení </a:t>
            </a:r>
            <a:r>
              <a:rPr lang="cs-CZ" sz="2000" dirty="0"/>
              <a:t>navíc šetří čas strávený nad detailní analýzou dlouhodobě monitorovaných záznamů a může </a:t>
            </a:r>
            <a:r>
              <a:rPr lang="cs-CZ" sz="2000" dirty="0"/>
              <a:t>navíc pozitivně ovlivnit přístup pacienta k vykonávání aktivit, kterým se dříve vyhýbal v důsledku špatného zvládání glykemických výkyvů v jejich průběhu</a:t>
            </a:r>
            <a:r>
              <a:rPr lang="cs-CZ" sz="2000" dirty="0"/>
              <a:t>.</a:t>
            </a:r>
          </a:p>
          <a:p>
            <a:pPr algn="just"/>
            <a:r>
              <a:rPr lang="cs-CZ" sz="2000" dirty="0"/>
              <a:t>Tento modul implementovaný do webové aplikace Diani je plánováno dále rozšířit </a:t>
            </a:r>
            <a:r>
              <a:rPr lang="cs-CZ" sz="2000" dirty="0"/>
              <a:t>o automatickou selekci </a:t>
            </a:r>
            <a:r>
              <a:rPr lang="cs-CZ" sz="2000" dirty="0"/>
              <a:t>úseků končících v hypoglykemickém rozmezí a hledání hyperglykemických vzestupů. Dalším plánovaným rozšířením je pak možnost individuálního nastavení časového intervalu nalezených úseků zdola i shora.</a:t>
            </a:r>
            <a:endParaRPr lang="cs-CZ" sz="2000" dirty="0"/>
          </a:p>
        </p:txBody>
      </p:sp>
      <p:sp>
        <p:nvSpPr>
          <p:cNvPr id="21" name="Obdélník se zakulacenými rohy na stejné straně 20"/>
          <p:cNvSpPr/>
          <p:nvPr/>
        </p:nvSpPr>
        <p:spPr>
          <a:xfrm rot="10800000">
            <a:off x="565570" y="4730427"/>
            <a:ext cx="17706769" cy="540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23" name="TextovéPole 22"/>
          <p:cNvSpPr txBox="1"/>
          <p:nvPr/>
        </p:nvSpPr>
        <p:spPr>
          <a:xfrm>
            <a:off x="8674647" y="4687519"/>
            <a:ext cx="1354247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cs-CZ" sz="3200" b="1" spc="32" dirty="0">
                <a:solidFill>
                  <a:schemeClr val="bg1"/>
                </a:solidFill>
              </a:rPr>
              <a:t>Úvod</a:t>
            </a:r>
            <a:r>
              <a:rPr lang="cs-CZ" sz="3200" spc="32" dirty="0"/>
              <a:t> </a:t>
            </a:r>
            <a:endParaRPr lang="cs-CZ" sz="2449" spc="32" dirty="0"/>
          </a:p>
        </p:txBody>
      </p:sp>
      <p:sp>
        <p:nvSpPr>
          <p:cNvPr id="58" name="Obdélník se zakulacenými rohy na stejné straně 57"/>
          <p:cNvSpPr/>
          <p:nvPr/>
        </p:nvSpPr>
        <p:spPr>
          <a:xfrm rot="10800000">
            <a:off x="469411" y="8078430"/>
            <a:ext cx="17793293" cy="540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59" name="TextovéPole 58"/>
          <p:cNvSpPr txBox="1"/>
          <p:nvPr/>
        </p:nvSpPr>
        <p:spPr>
          <a:xfrm>
            <a:off x="8449155" y="8028360"/>
            <a:ext cx="19721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1" spc="32" dirty="0">
                <a:solidFill>
                  <a:schemeClr val="bg1"/>
                </a:solidFill>
              </a:rPr>
              <a:t>Metodika</a:t>
            </a:r>
            <a:r>
              <a:rPr lang="en-US" sz="3200" b="1" spc="32" dirty="0">
                <a:solidFill>
                  <a:schemeClr val="bg1"/>
                </a:solidFill>
              </a:rPr>
              <a:t> </a:t>
            </a:r>
            <a:endParaRPr lang="en-US" sz="1633" b="1" spc="32" dirty="0">
              <a:solidFill>
                <a:schemeClr val="bg1"/>
              </a:solidFill>
            </a:endParaRPr>
          </a:p>
        </p:txBody>
      </p:sp>
      <p:sp>
        <p:nvSpPr>
          <p:cNvPr id="5" name="TextovéPole 4"/>
          <p:cNvSpPr txBox="1">
            <a:spLocks noChangeAspect="1"/>
          </p:cNvSpPr>
          <p:nvPr/>
        </p:nvSpPr>
        <p:spPr>
          <a:xfrm>
            <a:off x="986780" y="5454629"/>
            <a:ext cx="167907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cs-CZ" sz="2000" dirty="0" smtClean="0"/>
              <a:t>Znalost chování glykémie v průběhu fyzické aktivity je pro pacienty zejména s diabetem 1. typu klíčovou informací pro adekvátní nastavení a načasování inzulínových dávek a doplňování sacharidů. V těchto situacích totiž hrozí zvýšené riziko vzniku hypoglykémie a extrémnějších glykemických výkyvů vůbec.</a:t>
            </a:r>
          </a:p>
          <a:p>
            <a:pPr algn="just"/>
            <a:r>
              <a:rPr lang="cs-CZ" sz="2000" dirty="0" err="1" smtClean="0"/>
              <a:t>Telemedicínský</a:t>
            </a:r>
            <a:r>
              <a:rPr lang="cs-CZ" sz="2000" dirty="0" smtClean="0"/>
              <a:t> systém Diani umožňuje současné zobrazení a analýzu hodnot z krokoměru, kontinuálního monitoru glykémie, dávky inzulínu a obsahu sacharidů v jídle. Automatické vyhledávání takovýchto situací v naměřených datech může pomoci pacientovi rychle nalézt místa, která byla pro něj problematická z hlediska zvládání glykemických výkyvů. Pacient se tak může poučit, jak se jeho glykémie chová v souvislosti s velikostí a trváním dané pohybové aktivity, a v budoucnu se vyhnout opakování případných chyb. Systém zároveň výrazně šetří čas pacienta i lékaře.</a:t>
            </a:r>
            <a:endParaRPr lang="cs-CZ" sz="2000" dirty="0"/>
          </a:p>
        </p:txBody>
      </p:sp>
      <p:sp>
        <p:nvSpPr>
          <p:cNvPr id="74" name="TextovéPole 73"/>
          <p:cNvSpPr txBox="1"/>
          <p:nvPr/>
        </p:nvSpPr>
        <p:spPr>
          <a:xfrm>
            <a:off x="4482478" y="16680993"/>
            <a:ext cx="137004" cy="208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758" b="1" dirty="0">
                <a:solidFill>
                  <a:schemeClr val="bg1"/>
                </a:solidFill>
              </a:rPr>
              <a:t>B</a:t>
            </a:r>
            <a:endParaRPr lang="en-US" sz="758" b="1" dirty="0">
              <a:solidFill>
                <a:schemeClr val="bg1"/>
              </a:solidFill>
            </a:endParaRPr>
          </a:p>
        </p:txBody>
      </p:sp>
      <p:pic>
        <p:nvPicPr>
          <p:cNvPr id="1028" name="Picture 4" descr="http://old.techlib.cz/public/userfiles/Image/medaile_fbmi_sediv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92" b="95101" l="4874" r="95126">
                        <a14:foregroundMark x1="65042" y1="22635" x2="25714" y2="24493"/>
                        <a14:foregroundMark x1="23697" y1="27027" x2="11092" y2="56250"/>
                        <a14:foregroundMark x1="53277" y1="75338" x2="53277" y2="75338"/>
                        <a14:foregroundMark x1="53277" y1="84797" x2="82017" y2="68243"/>
                        <a14:foregroundMark x1="36303" y1="82095" x2="12941" y2="57939"/>
                        <a14:foregroundMark x1="27227" y1="16723" x2="53277" y2="7601"/>
                        <a14:foregroundMark x1="61513" y1="13007" x2="79664" y2="30574"/>
                        <a14:foregroundMark x1="69412" y1="16723" x2="84370" y2="29392"/>
                        <a14:foregroundMark x1="37479" y1="27365" x2="41008" y2="62669"/>
                        <a14:foregroundMark x1="55630" y1="30068" x2="51261" y2="69764"/>
                        <a14:foregroundMark x1="43361" y1="29392" x2="45042" y2="46453"/>
                        <a14:foregroundMark x1="33613" y1="42736" x2="33613" y2="42736"/>
                        <a14:foregroundMark x1="40672" y1="67061" x2="40672" y2="67061"/>
                        <a14:foregroundMark x1="74118" y1="57432" x2="76975" y2="42399"/>
                        <a14:foregroundMark x1="89916" y1="36149" x2="90420" y2="44764"/>
                        <a14:foregroundMark x1="90420" y1="54730" x2="88403" y2="63007"/>
                        <a14:foregroundMark x1="91933" y1="43581" x2="91092" y2="53547"/>
                        <a14:foregroundMark x1="93445" y1="56250" x2="83193" y2="72128"/>
                        <a14:foregroundMark x1="87899" y1="66554" x2="83193" y2="72128"/>
                        <a14:foregroundMark x1="88403" y1="69426" x2="88403" y2="69426"/>
                        <a14:foregroundMark x1="84370" y1="74493" x2="84370" y2="74493"/>
                        <a14:foregroundMark x1="80504" y1="79223" x2="71429" y2="86486"/>
                        <a14:foregroundMark x1="68235" y1="88851" x2="55294" y2="87669"/>
                        <a14:foregroundMark x1="72941" y1="81757" x2="72941" y2="81757"/>
                        <a14:foregroundMark x1="63866" y1="90034" x2="45042" y2="92399"/>
                        <a14:foregroundMark x1="60840" y1="92736" x2="60840" y2="92736"/>
                        <a14:foregroundMark x1="58319" y1="92736" x2="49748" y2="93243"/>
                        <a14:foregroundMark x1="49748" y1="93243" x2="43025" y2="92399"/>
                        <a14:foregroundMark x1="43025" y1="91216" x2="25210" y2="83277"/>
                        <a14:foregroundMark x1="27563" y1="84122" x2="20504" y2="73311"/>
                        <a14:foregroundMark x1="20840" y1="17399" x2="12605" y2="27365"/>
                        <a14:foregroundMark x1="10252" y1="31757" x2="6723" y2="43581"/>
                        <a14:foregroundMark x1="6723" y1="47128" x2="7899" y2="62669"/>
                      </a14:backgroundRemoval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3739" y="1778803"/>
            <a:ext cx="2448000" cy="2435624"/>
          </a:xfrm>
          <a:prstGeom prst="rect">
            <a:avLst/>
          </a:prstGeom>
          <a:noFill/>
        </p:spPr>
      </p:pic>
      <p:pic>
        <p:nvPicPr>
          <p:cNvPr id="84" name="Obrázek 8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866" y="1793999"/>
            <a:ext cx="2448000" cy="2431680"/>
          </a:xfrm>
          <a:prstGeom prst="rect">
            <a:avLst/>
          </a:prstGeom>
        </p:spPr>
      </p:pic>
      <p:sp>
        <p:nvSpPr>
          <p:cNvPr id="60" name="TextovéPole 59"/>
          <p:cNvSpPr txBox="1"/>
          <p:nvPr/>
        </p:nvSpPr>
        <p:spPr>
          <a:xfrm>
            <a:off x="4072240" y="25440991"/>
            <a:ext cx="97828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</a:rPr>
              <a:t>Milan Poláček, </a:t>
            </a:r>
            <a:r>
              <a:rPr lang="cs-CZ" sz="1600" dirty="0"/>
              <a:t>Fakulta biomedicínského inženýrství ČVUT</a:t>
            </a:r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</a:rPr>
              <a:t>, Nám. Sítná 3105, 272 01 Kladno. </a:t>
            </a:r>
            <a:r>
              <a:rPr lang="cs-CZ" sz="1600" dirty="0">
                <a:ea typeface="ヒラギノ角ゴ Pro W3" charset="0"/>
                <a:cs typeface="ヒラギノ角ゴ Pro W3" charset="0"/>
                <a:sym typeface="Times New Roman" charset="0"/>
                <a:hlinkClick r:id="rId5"/>
              </a:rPr>
              <a:t>polacmi1@fel.cvut.cz</a:t>
            </a:r>
            <a:endParaRPr lang="en-US" sz="1600" dirty="0"/>
          </a:p>
        </p:txBody>
      </p:sp>
      <p:sp>
        <p:nvSpPr>
          <p:cNvPr id="64" name="Obdélník se zakulacenými rohy na stejné straně 63"/>
          <p:cNvSpPr/>
          <p:nvPr/>
        </p:nvSpPr>
        <p:spPr>
          <a:xfrm rot="10800000">
            <a:off x="469410" y="15923377"/>
            <a:ext cx="17793293" cy="540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68" name="Obdélník se zakulacenými rohy na stejné straně 67"/>
          <p:cNvSpPr/>
          <p:nvPr/>
        </p:nvSpPr>
        <p:spPr>
          <a:xfrm rot="10800000">
            <a:off x="469412" y="22258628"/>
            <a:ext cx="17793293" cy="540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8"/>
          </a:p>
        </p:txBody>
      </p:sp>
      <p:sp>
        <p:nvSpPr>
          <p:cNvPr id="67" name="TextovéPole 66"/>
          <p:cNvSpPr txBox="1"/>
          <p:nvPr/>
        </p:nvSpPr>
        <p:spPr>
          <a:xfrm>
            <a:off x="8620024" y="22278956"/>
            <a:ext cx="1349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1" spc="32" dirty="0">
                <a:solidFill>
                  <a:schemeClr val="bg1"/>
                </a:solidFill>
              </a:rPr>
              <a:t>Závěr</a:t>
            </a:r>
            <a:endParaRPr lang="en-US" sz="3000" b="1" spc="32" dirty="0">
              <a:solidFill>
                <a:schemeClr val="bg1"/>
              </a:solidFill>
            </a:endParaRPr>
          </a:p>
        </p:txBody>
      </p:sp>
      <p:sp>
        <p:nvSpPr>
          <p:cNvPr id="24" name="TextovéPole 23"/>
          <p:cNvSpPr txBox="1"/>
          <p:nvPr/>
        </p:nvSpPr>
        <p:spPr>
          <a:xfrm>
            <a:off x="8216257" y="15909582"/>
            <a:ext cx="2157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3200" b="1" spc="32" dirty="0">
                <a:solidFill>
                  <a:schemeClr val="bg1"/>
                </a:solidFill>
              </a:rPr>
              <a:t>Výsledky</a:t>
            </a:r>
            <a:endParaRPr lang="en-US" sz="3200" b="1" spc="32" dirty="0">
              <a:solidFill>
                <a:schemeClr val="bg1"/>
              </a:solidFill>
            </a:endParaRPr>
          </a:p>
        </p:txBody>
      </p:sp>
      <p:sp>
        <p:nvSpPr>
          <p:cNvPr id="14" name="TextovéPole 13"/>
          <p:cNvSpPr txBox="1"/>
          <p:nvPr/>
        </p:nvSpPr>
        <p:spPr>
          <a:xfrm>
            <a:off x="7249525" y="21351112"/>
            <a:ext cx="4746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400" dirty="0"/>
              <a:t>Použitá data jsou z období 2.pol 2015 a 1. čtvrtletí 2017</a:t>
            </a:r>
            <a:endParaRPr lang="cs-CZ" sz="1400" dirty="0"/>
          </a:p>
        </p:txBody>
      </p:sp>
      <p:pic>
        <p:nvPicPr>
          <p:cNvPr id="1026" name="Obrázek 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6176" y="16616500"/>
            <a:ext cx="5959001" cy="4936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Obrázek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01" y="16661641"/>
            <a:ext cx="6306506" cy="4890967"/>
          </a:xfrm>
          <a:prstGeom prst="rect">
            <a:avLst/>
          </a:prstGeom>
        </p:spPr>
      </p:pic>
      <p:pic>
        <p:nvPicPr>
          <p:cNvPr id="10" name="Obrázek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00" y="8804872"/>
            <a:ext cx="6003958" cy="5046607"/>
          </a:xfrm>
          <a:prstGeom prst="rect">
            <a:avLst/>
          </a:prstGeom>
        </p:spPr>
      </p:pic>
      <p:pic>
        <p:nvPicPr>
          <p:cNvPr id="17" name="Obrázek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2246" y="12069239"/>
            <a:ext cx="10921463" cy="332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43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Motiv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3994</TotalTime>
  <Words>208</Words>
  <Application>Microsoft Office PowerPoint</Application>
  <PresentationFormat>Vlastní</PresentationFormat>
  <Paragraphs>19</Paragraphs>
  <Slides>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ヒラギノ角ゴ Pro W3</vt:lpstr>
      <vt:lpstr>Motiv Office</vt:lpstr>
      <vt:lpstr>Aplikace pro automatické vyhledávání situací zvýšené fyzické aktivity v datech získaných z krokoměru a jejich komparace s hodnotami glykémie ze CGM u pacientů s diabetes mellitus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Dlouhodobé používání mobilních elektronických zařízení pro monitoraci  a vyhodnocování glykémie, obsahu sacharidů, dávek inzulínu a pohybové aktivity u pacienta s diabetem 1. typu vede ke zlepšení metabolické kompenzace – kazuistika</dc:title>
  <dc:creator>Milan Poláček</dc:creator>
  <cp:lastModifiedBy>Milan Polacek</cp:lastModifiedBy>
  <cp:revision>107</cp:revision>
  <dcterms:created xsi:type="dcterms:W3CDTF">2016-03-24T18:09:50Z</dcterms:created>
  <dcterms:modified xsi:type="dcterms:W3CDTF">2017-03-31T09:53:50Z</dcterms:modified>
</cp:coreProperties>
</file>
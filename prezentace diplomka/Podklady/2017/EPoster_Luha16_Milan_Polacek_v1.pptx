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8719800" cy="22860000"/>
  <p:notesSz cx="6858000" cy="9144000"/>
  <p:defaultTextStyle>
    <a:defPPr>
      <a:defRPr lang="en-US"/>
    </a:defPPr>
    <a:lvl1pPr marL="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1pPr>
    <a:lvl2pPr marL="42414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2pPr>
    <a:lvl3pPr marL="84828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3pPr>
    <a:lvl4pPr marL="127242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4pPr>
    <a:lvl5pPr marL="169656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5pPr>
    <a:lvl6pPr marL="212070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6pPr>
    <a:lvl7pPr marL="254484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7pPr>
    <a:lvl8pPr marL="296898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8pPr>
    <a:lvl9pPr marL="339312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26" userDrawn="1">
          <p15:clr>
            <a:srgbClr val="A4A3A4"/>
          </p15:clr>
        </p15:guide>
        <p15:guide id="2" orient="horz" pos="7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CED"/>
    <a:srgbClr val="222292"/>
    <a:srgbClr val="2B2BBB"/>
    <a:srgbClr val="FFFFFF"/>
    <a:srgbClr val="9ED98E"/>
    <a:srgbClr val="68A7EF"/>
    <a:srgbClr val="006000"/>
    <a:srgbClr val="1A8A25"/>
    <a:srgbClr val="4141D3"/>
    <a:srgbClr val="1A1A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Styl s motivem 2 – zvýraznění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Styl s motivem 1 – zvýraznění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882" y="-1620"/>
      </p:cViewPr>
      <p:guideLst>
        <p:guide pos="226"/>
        <p:guide orient="horz" pos="72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3985" y="3741210"/>
            <a:ext cx="15911830" cy="7958667"/>
          </a:xfrm>
        </p:spPr>
        <p:txBody>
          <a:bodyPr anchor="b"/>
          <a:lstStyle>
            <a:lvl1pPr algn="ctr">
              <a:defRPr sz="12283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75" y="12006793"/>
            <a:ext cx="14039850" cy="5519207"/>
          </a:xfrm>
        </p:spPr>
        <p:txBody>
          <a:bodyPr/>
          <a:lstStyle>
            <a:lvl1pPr marL="0" indent="0" algn="ctr">
              <a:buNone/>
              <a:defRPr sz="4913"/>
            </a:lvl1pPr>
            <a:lvl2pPr marL="935980" indent="0" algn="ctr">
              <a:buNone/>
              <a:defRPr sz="4094"/>
            </a:lvl2pPr>
            <a:lvl3pPr marL="1871960" indent="0" algn="ctr">
              <a:buNone/>
              <a:defRPr sz="3685"/>
            </a:lvl3pPr>
            <a:lvl4pPr marL="2807940" indent="0" algn="ctr">
              <a:buNone/>
              <a:defRPr sz="3276"/>
            </a:lvl4pPr>
            <a:lvl5pPr marL="3743919" indent="0" algn="ctr">
              <a:buNone/>
              <a:defRPr sz="3276"/>
            </a:lvl5pPr>
            <a:lvl6pPr marL="4679899" indent="0" algn="ctr">
              <a:buNone/>
              <a:defRPr sz="3276"/>
            </a:lvl6pPr>
            <a:lvl7pPr marL="5615879" indent="0" algn="ctr">
              <a:buNone/>
              <a:defRPr sz="3276"/>
            </a:lvl7pPr>
            <a:lvl8pPr marL="6551859" indent="0" algn="ctr">
              <a:buNone/>
              <a:defRPr sz="3276"/>
            </a:lvl8pPr>
            <a:lvl9pPr marL="7487839" indent="0" algn="ctr">
              <a:buNone/>
              <a:defRPr sz="3276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097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966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237" y="5699132"/>
            <a:ext cx="16145828" cy="9509123"/>
          </a:xfrm>
        </p:spPr>
        <p:txBody>
          <a:bodyPr anchor="b"/>
          <a:lstStyle>
            <a:lvl1pPr>
              <a:defRPr sz="12283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7237" y="15298215"/>
            <a:ext cx="16145828" cy="5000623"/>
          </a:xfrm>
        </p:spPr>
        <p:txBody>
          <a:bodyPr/>
          <a:lstStyle>
            <a:lvl1pPr marL="0" indent="0">
              <a:buNone/>
              <a:defRPr sz="4913">
                <a:solidFill>
                  <a:schemeClr val="tx1"/>
                </a:solidFill>
              </a:defRPr>
            </a:lvl1pPr>
            <a:lvl2pPr marL="935980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2pPr>
            <a:lvl3pPr marL="1871960" indent="0">
              <a:buNone/>
              <a:defRPr sz="3685">
                <a:solidFill>
                  <a:schemeClr val="tx1">
                    <a:tint val="75000"/>
                  </a:schemeClr>
                </a:solidFill>
              </a:defRPr>
            </a:lvl3pPr>
            <a:lvl4pPr marL="2807940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4pPr>
            <a:lvl5pPr marL="374391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5pPr>
            <a:lvl6pPr marL="467989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6pPr>
            <a:lvl7pPr marL="561587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7pPr>
            <a:lvl8pPr marL="655185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8pPr>
            <a:lvl9pPr marL="748783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89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6986" y="6085417"/>
            <a:ext cx="7955915" cy="1450446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76899" y="6085417"/>
            <a:ext cx="7955915" cy="1450446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98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217089"/>
            <a:ext cx="16145828" cy="441854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9426" y="5603877"/>
            <a:ext cx="7919352" cy="2746373"/>
          </a:xfrm>
        </p:spPr>
        <p:txBody>
          <a:bodyPr anchor="b"/>
          <a:lstStyle>
            <a:lvl1pPr marL="0" indent="0">
              <a:buNone/>
              <a:defRPr sz="4913" b="1"/>
            </a:lvl1pPr>
            <a:lvl2pPr marL="935980" indent="0">
              <a:buNone/>
              <a:defRPr sz="4094" b="1"/>
            </a:lvl2pPr>
            <a:lvl3pPr marL="1871960" indent="0">
              <a:buNone/>
              <a:defRPr sz="3685" b="1"/>
            </a:lvl3pPr>
            <a:lvl4pPr marL="2807940" indent="0">
              <a:buNone/>
              <a:defRPr sz="3276" b="1"/>
            </a:lvl4pPr>
            <a:lvl5pPr marL="3743919" indent="0">
              <a:buNone/>
              <a:defRPr sz="3276" b="1"/>
            </a:lvl5pPr>
            <a:lvl6pPr marL="4679899" indent="0">
              <a:buNone/>
              <a:defRPr sz="3276" b="1"/>
            </a:lvl6pPr>
            <a:lvl7pPr marL="5615879" indent="0">
              <a:buNone/>
              <a:defRPr sz="3276" b="1"/>
            </a:lvl7pPr>
            <a:lvl8pPr marL="6551859" indent="0">
              <a:buNone/>
              <a:defRPr sz="3276" b="1"/>
            </a:lvl8pPr>
            <a:lvl9pPr marL="7487839" indent="0">
              <a:buNone/>
              <a:defRPr sz="3276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9426" y="8350250"/>
            <a:ext cx="7919352" cy="1228196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76900" y="5603877"/>
            <a:ext cx="7958353" cy="2746373"/>
          </a:xfrm>
        </p:spPr>
        <p:txBody>
          <a:bodyPr anchor="b"/>
          <a:lstStyle>
            <a:lvl1pPr marL="0" indent="0">
              <a:buNone/>
              <a:defRPr sz="4913" b="1"/>
            </a:lvl1pPr>
            <a:lvl2pPr marL="935980" indent="0">
              <a:buNone/>
              <a:defRPr sz="4094" b="1"/>
            </a:lvl2pPr>
            <a:lvl3pPr marL="1871960" indent="0">
              <a:buNone/>
              <a:defRPr sz="3685" b="1"/>
            </a:lvl3pPr>
            <a:lvl4pPr marL="2807940" indent="0">
              <a:buNone/>
              <a:defRPr sz="3276" b="1"/>
            </a:lvl4pPr>
            <a:lvl5pPr marL="3743919" indent="0">
              <a:buNone/>
              <a:defRPr sz="3276" b="1"/>
            </a:lvl5pPr>
            <a:lvl6pPr marL="4679899" indent="0">
              <a:buNone/>
              <a:defRPr sz="3276" b="1"/>
            </a:lvl6pPr>
            <a:lvl7pPr marL="5615879" indent="0">
              <a:buNone/>
              <a:defRPr sz="3276" b="1"/>
            </a:lvl7pPr>
            <a:lvl8pPr marL="6551859" indent="0">
              <a:buNone/>
              <a:defRPr sz="3276" b="1"/>
            </a:lvl8pPr>
            <a:lvl9pPr marL="7487839" indent="0">
              <a:buNone/>
              <a:defRPr sz="3276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76900" y="8350250"/>
            <a:ext cx="7958353" cy="1228196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27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701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55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524000"/>
            <a:ext cx="6037623" cy="5334000"/>
          </a:xfrm>
        </p:spPr>
        <p:txBody>
          <a:bodyPr anchor="b"/>
          <a:lstStyle>
            <a:lvl1pPr>
              <a:defRPr sz="6551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8353" y="3291422"/>
            <a:ext cx="9476899" cy="16245417"/>
          </a:xfrm>
        </p:spPr>
        <p:txBody>
          <a:bodyPr/>
          <a:lstStyle>
            <a:lvl1pPr>
              <a:defRPr sz="6551"/>
            </a:lvl1pPr>
            <a:lvl2pPr>
              <a:defRPr sz="5732"/>
            </a:lvl2pPr>
            <a:lvl3pPr>
              <a:defRPr sz="4913"/>
            </a:lvl3pPr>
            <a:lvl4pPr>
              <a:defRPr sz="4094"/>
            </a:lvl4pPr>
            <a:lvl5pPr>
              <a:defRPr sz="4094"/>
            </a:lvl5pPr>
            <a:lvl6pPr>
              <a:defRPr sz="4094"/>
            </a:lvl6pPr>
            <a:lvl7pPr>
              <a:defRPr sz="4094"/>
            </a:lvl7pPr>
            <a:lvl8pPr>
              <a:defRPr sz="4094"/>
            </a:lvl8pPr>
            <a:lvl9pPr>
              <a:defRPr sz="4094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9424" y="6858000"/>
            <a:ext cx="6037623" cy="12705293"/>
          </a:xfrm>
        </p:spPr>
        <p:txBody>
          <a:bodyPr/>
          <a:lstStyle>
            <a:lvl1pPr marL="0" indent="0">
              <a:buNone/>
              <a:defRPr sz="3276"/>
            </a:lvl1pPr>
            <a:lvl2pPr marL="935980" indent="0">
              <a:buNone/>
              <a:defRPr sz="2866"/>
            </a:lvl2pPr>
            <a:lvl3pPr marL="1871960" indent="0">
              <a:buNone/>
              <a:defRPr sz="2457"/>
            </a:lvl3pPr>
            <a:lvl4pPr marL="2807940" indent="0">
              <a:buNone/>
              <a:defRPr sz="2047"/>
            </a:lvl4pPr>
            <a:lvl5pPr marL="3743919" indent="0">
              <a:buNone/>
              <a:defRPr sz="2047"/>
            </a:lvl5pPr>
            <a:lvl6pPr marL="4679899" indent="0">
              <a:buNone/>
              <a:defRPr sz="2047"/>
            </a:lvl6pPr>
            <a:lvl7pPr marL="5615879" indent="0">
              <a:buNone/>
              <a:defRPr sz="2047"/>
            </a:lvl7pPr>
            <a:lvl8pPr marL="6551859" indent="0">
              <a:buNone/>
              <a:defRPr sz="2047"/>
            </a:lvl8pPr>
            <a:lvl9pPr marL="7487839" indent="0">
              <a:buNone/>
              <a:defRPr sz="2047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4371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524000"/>
            <a:ext cx="6037623" cy="5334000"/>
          </a:xfrm>
        </p:spPr>
        <p:txBody>
          <a:bodyPr anchor="b"/>
          <a:lstStyle>
            <a:lvl1pPr>
              <a:defRPr sz="6551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58353" y="3291422"/>
            <a:ext cx="9476899" cy="16245417"/>
          </a:xfrm>
        </p:spPr>
        <p:txBody>
          <a:bodyPr anchor="t"/>
          <a:lstStyle>
            <a:lvl1pPr marL="0" indent="0">
              <a:buNone/>
              <a:defRPr sz="6551"/>
            </a:lvl1pPr>
            <a:lvl2pPr marL="935980" indent="0">
              <a:buNone/>
              <a:defRPr sz="5732"/>
            </a:lvl2pPr>
            <a:lvl3pPr marL="1871960" indent="0">
              <a:buNone/>
              <a:defRPr sz="4913"/>
            </a:lvl3pPr>
            <a:lvl4pPr marL="2807940" indent="0">
              <a:buNone/>
              <a:defRPr sz="4094"/>
            </a:lvl4pPr>
            <a:lvl5pPr marL="3743919" indent="0">
              <a:buNone/>
              <a:defRPr sz="4094"/>
            </a:lvl5pPr>
            <a:lvl6pPr marL="4679899" indent="0">
              <a:buNone/>
              <a:defRPr sz="4094"/>
            </a:lvl6pPr>
            <a:lvl7pPr marL="5615879" indent="0">
              <a:buNone/>
              <a:defRPr sz="4094"/>
            </a:lvl7pPr>
            <a:lvl8pPr marL="6551859" indent="0">
              <a:buNone/>
              <a:defRPr sz="4094"/>
            </a:lvl8pPr>
            <a:lvl9pPr marL="7487839" indent="0">
              <a:buNone/>
              <a:defRPr sz="4094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9424" y="6858000"/>
            <a:ext cx="6037623" cy="12705293"/>
          </a:xfrm>
        </p:spPr>
        <p:txBody>
          <a:bodyPr/>
          <a:lstStyle>
            <a:lvl1pPr marL="0" indent="0">
              <a:buNone/>
              <a:defRPr sz="3276"/>
            </a:lvl1pPr>
            <a:lvl2pPr marL="935980" indent="0">
              <a:buNone/>
              <a:defRPr sz="2866"/>
            </a:lvl2pPr>
            <a:lvl3pPr marL="1871960" indent="0">
              <a:buNone/>
              <a:defRPr sz="2457"/>
            </a:lvl3pPr>
            <a:lvl4pPr marL="2807940" indent="0">
              <a:buNone/>
              <a:defRPr sz="2047"/>
            </a:lvl4pPr>
            <a:lvl5pPr marL="3743919" indent="0">
              <a:buNone/>
              <a:defRPr sz="2047"/>
            </a:lvl5pPr>
            <a:lvl6pPr marL="4679899" indent="0">
              <a:buNone/>
              <a:defRPr sz="2047"/>
            </a:lvl6pPr>
            <a:lvl7pPr marL="5615879" indent="0">
              <a:buNone/>
              <a:defRPr sz="2047"/>
            </a:lvl7pPr>
            <a:lvl8pPr marL="6551859" indent="0">
              <a:buNone/>
              <a:defRPr sz="2047"/>
            </a:lvl8pPr>
            <a:lvl9pPr marL="7487839" indent="0">
              <a:buNone/>
              <a:defRPr sz="2047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7295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011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96358" y="1217084"/>
            <a:ext cx="4036457" cy="19372793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6987" y="1217084"/>
            <a:ext cx="11875373" cy="19372793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39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6986" y="1217089"/>
            <a:ext cx="16145828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6986" y="6085417"/>
            <a:ext cx="16145828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6986" y="21187839"/>
            <a:ext cx="4211955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F1330-AC85-4D1F-B7FB-767AB07AC3D6}" type="datetimeFigureOut">
              <a:rPr lang="cs-CZ" smtClean="0"/>
              <a:t>30. 3. 2017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00934" y="21187839"/>
            <a:ext cx="6317933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220859" y="21187839"/>
            <a:ext cx="4211955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51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71960" rtl="0" eaLnBrk="1" latinLnBrk="0" hangingPunct="1">
        <a:lnSpc>
          <a:spcPct val="90000"/>
        </a:lnSpc>
        <a:spcBef>
          <a:spcPct val="0"/>
        </a:spcBef>
        <a:buNone/>
        <a:defRPr sz="90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7990" indent="-467990" algn="l" defTabSz="1871960" rtl="0" eaLnBrk="1" latinLnBrk="0" hangingPunct="1">
        <a:lnSpc>
          <a:spcPct val="90000"/>
        </a:lnSpc>
        <a:spcBef>
          <a:spcPts val="2047"/>
        </a:spcBef>
        <a:buFont typeface="Arial" panose="020B0604020202020204" pitchFamily="34" charset="0"/>
        <a:buChar char="•"/>
        <a:defRPr sz="5732" kern="1200">
          <a:solidFill>
            <a:schemeClr val="tx1"/>
          </a:solidFill>
          <a:latin typeface="+mn-lt"/>
          <a:ea typeface="+mn-ea"/>
          <a:cs typeface="+mn-cs"/>
        </a:defRPr>
      </a:lvl1pPr>
      <a:lvl2pPr marL="140397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913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094" kern="1200">
          <a:solidFill>
            <a:schemeClr val="tx1"/>
          </a:solidFill>
          <a:latin typeface="+mn-lt"/>
          <a:ea typeface="+mn-ea"/>
          <a:cs typeface="+mn-cs"/>
        </a:defRPr>
      </a:lvl3pPr>
      <a:lvl4pPr marL="32759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421190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514788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608386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701984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9558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1pPr>
      <a:lvl2pPr marL="93598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2pPr>
      <a:lvl3pPr marL="187196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3pPr>
      <a:lvl4pPr marL="280794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374391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467989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561587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655185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48783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mailto:polacmi1@fel.cvut.cz" TargetMode="External"/><Relationship Id="rId4" Type="http://schemas.openxmlformats.org/officeDocument/2006/relationships/image" Target="../media/image2.gif"/><Relationship Id="rId9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Zaoblený obdélník 62"/>
          <p:cNvSpPr>
            <a:spLocks noChangeAspect="1"/>
          </p:cNvSpPr>
          <p:nvPr/>
        </p:nvSpPr>
        <p:spPr>
          <a:xfrm>
            <a:off x="1324811" y="12822075"/>
            <a:ext cx="16200000" cy="4992443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 dirty="0"/>
          </a:p>
        </p:txBody>
      </p:sp>
      <p:sp>
        <p:nvSpPr>
          <p:cNvPr id="35" name="Zaoblený obdélník 34"/>
          <p:cNvSpPr>
            <a:spLocks noChangeAspect="1"/>
          </p:cNvSpPr>
          <p:nvPr/>
        </p:nvSpPr>
        <p:spPr>
          <a:xfrm>
            <a:off x="1342194" y="4236708"/>
            <a:ext cx="16200000" cy="2636324"/>
          </a:xfrm>
          <a:prstGeom prst="roundRect">
            <a:avLst>
              <a:gd name="adj" fmla="val 14097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56" name="Zaoblený obdélník 55"/>
          <p:cNvSpPr>
            <a:spLocks noChangeAspect="1"/>
          </p:cNvSpPr>
          <p:nvPr/>
        </p:nvSpPr>
        <p:spPr>
          <a:xfrm>
            <a:off x="1324812" y="7233738"/>
            <a:ext cx="16200000" cy="5088384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66" name="Zaoblený obdélník 65"/>
          <p:cNvSpPr>
            <a:spLocks noChangeAspect="1"/>
          </p:cNvSpPr>
          <p:nvPr/>
        </p:nvSpPr>
        <p:spPr>
          <a:xfrm>
            <a:off x="1339458" y="18155465"/>
            <a:ext cx="16200000" cy="4052424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34" name="Zaoblený obdélník 33"/>
          <p:cNvSpPr>
            <a:spLocks noChangeAspect="1"/>
          </p:cNvSpPr>
          <p:nvPr/>
        </p:nvSpPr>
        <p:spPr>
          <a:xfrm>
            <a:off x="1420970" y="344877"/>
            <a:ext cx="16103842" cy="350725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14241" y="1172689"/>
            <a:ext cx="14162514" cy="484525"/>
          </a:xfrm>
          <a:noFill/>
          <a:ln w="889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>
            <a:noAutofit/>
          </a:bodyPr>
          <a:lstStyle/>
          <a:p>
            <a:r>
              <a:rPr lang="cs-CZ" sz="3600" b="1" dirty="0">
                <a:solidFill>
                  <a:schemeClr val="bg1"/>
                </a:solidFill>
              </a:rPr>
              <a:t>Aplikace pro automatické vyhledávání situací zvýšené fyzické aktivity v datech získaných z krokoměru a jejich komparace s hodnotami glykémie ze CGM u pacientů s diabetes </a:t>
            </a:r>
            <a:r>
              <a:rPr lang="cs-CZ" sz="3600" b="1" dirty="0" err="1">
                <a:solidFill>
                  <a:schemeClr val="bg1"/>
                </a:solidFill>
              </a:rPr>
              <a:t>mellitus</a:t>
            </a:r>
            <a:endParaRPr lang="cs-CZ" sz="3600" dirty="0">
              <a:solidFill>
                <a:schemeClr val="bg1"/>
              </a:solidFill>
            </a:endParaRPr>
          </a:p>
        </p:txBody>
      </p:sp>
      <p:sp>
        <p:nvSpPr>
          <p:cNvPr id="3" name="Podnadpis 2"/>
          <p:cNvSpPr>
            <a:spLocks noGrp="1" noChangeAspect="1"/>
          </p:cNvSpPr>
          <p:nvPr>
            <p:ph type="subTitle" idx="1"/>
          </p:nvPr>
        </p:nvSpPr>
        <p:spPr>
          <a:xfrm>
            <a:off x="4200019" y="2252055"/>
            <a:ext cx="10603636" cy="588225"/>
          </a:xfrm>
        </p:spPr>
        <p:txBody>
          <a:bodyPr anchor="ctr">
            <a:noAutofit/>
          </a:bodyPr>
          <a:lstStyle/>
          <a:p>
            <a:r>
              <a:rPr lang="cs-CZ" sz="1800" b="1" u="sng" dirty="0">
                <a:solidFill>
                  <a:schemeClr val="bg1"/>
                </a:solidFill>
              </a:rPr>
              <a:t>M. Poláček</a:t>
            </a:r>
            <a:r>
              <a:rPr lang="cs-CZ" sz="1800" b="1" u="sng" baseline="30000" dirty="0">
                <a:solidFill>
                  <a:schemeClr val="bg1"/>
                </a:solidFill>
              </a:rPr>
              <a:t>1</a:t>
            </a:r>
            <a:r>
              <a:rPr lang="cs-CZ" sz="1800" b="1" dirty="0">
                <a:solidFill>
                  <a:schemeClr val="bg1"/>
                </a:solidFill>
              </a:rPr>
              <a:t>, A. Holubová</a:t>
            </a:r>
            <a:r>
              <a:rPr lang="cs-CZ" sz="1800" b="1" baseline="30000" dirty="0">
                <a:solidFill>
                  <a:schemeClr val="bg1"/>
                </a:solidFill>
              </a:rPr>
              <a:t>2</a:t>
            </a:r>
            <a:r>
              <a:rPr lang="cs-CZ" sz="1800" b="1" dirty="0">
                <a:solidFill>
                  <a:schemeClr val="bg1"/>
                </a:solidFill>
              </a:rPr>
              <a:t>, J. Mužík</a:t>
            </a:r>
            <a:r>
              <a:rPr lang="cs-CZ" sz="1800" b="1" baseline="30000" dirty="0">
                <a:solidFill>
                  <a:schemeClr val="bg1"/>
                </a:solidFill>
              </a:rPr>
              <a:t>1,2</a:t>
            </a:r>
            <a:r>
              <a:rPr lang="cs-CZ" sz="1800" b="1" dirty="0">
                <a:solidFill>
                  <a:schemeClr val="bg1"/>
                </a:solidFill>
              </a:rPr>
              <a:t>, K. Hána</a:t>
            </a:r>
            <a:r>
              <a:rPr lang="cs-CZ" sz="1800" b="1" baseline="30000" dirty="0">
                <a:solidFill>
                  <a:schemeClr val="bg1"/>
                </a:solidFill>
              </a:rPr>
              <a:t>2</a:t>
            </a:r>
            <a:r>
              <a:rPr lang="cs-CZ" sz="1800" b="1" dirty="0">
                <a:solidFill>
                  <a:schemeClr val="bg1"/>
                </a:solidFill>
              </a:rPr>
              <a:t>, P. Smrčka</a:t>
            </a:r>
            <a:r>
              <a:rPr lang="cs-CZ" sz="1800" b="1" baseline="30000" dirty="0">
                <a:solidFill>
                  <a:schemeClr val="bg1"/>
                </a:solidFill>
              </a:rPr>
              <a:t>2</a:t>
            </a:r>
            <a:r>
              <a:rPr lang="cs-CZ" sz="1800" b="1" dirty="0">
                <a:solidFill>
                  <a:schemeClr val="bg1"/>
                </a:solidFill>
              </a:rPr>
              <a:t>, M. Kvapil</a:t>
            </a:r>
            <a:r>
              <a:rPr lang="cs-CZ" sz="1800" b="1" baseline="30000" dirty="0">
                <a:solidFill>
                  <a:schemeClr val="bg1"/>
                </a:solidFill>
              </a:rPr>
              <a:t>3</a:t>
            </a:r>
            <a:r>
              <a:rPr lang="cs-CZ" sz="1800" b="1" dirty="0">
                <a:solidFill>
                  <a:schemeClr val="bg1"/>
                </a:solidFill>
              </a:rPr>
              <a:t>, J. Brož</a:t>
            </a:r>
            <a:r>
              <a:rPr lang="cs-CZ" sz="1800" b="1" baseline="30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Obdélník 3"/>
          <p:cNvSpPr>
            <a:spLocks noChangeAspect="1"/>
          </p:cNvSpPr>
          <p:nvPr/>
        </p:nvSpPr>
        <p:spPr>
          <a:xfrm>
            <a:off x="4285715" y="2800125"/>
            <a:ext cx="10391734" cy="83099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cs-CZ" sz="1600" baseline="30000" dirty="0">
                <a:solidFill>
                  <a:schemeClr val="bg1"/>
                </a:solidFill>
              </a:rPr>
              <a:t>1</a:t>
            </a:r>
            <a:r>
              <a:rPr lang="cs-CZ" sz="1600" dirty="0">
                <a:solidFill>
                  <a:schemeClr val="bg1"/>
                </a:solidFill>
              </a:rPr>
              <a:t> Centrum podpory aplikačních výstupů a spin-</a:t>
            </a:r>
            <a:r>
              <a:rPr lang="cs-CZ" sz="1600" dirty="0" err="1">
                <a:solidFill>
                  <a:schemeClr val="bg1"/>
                </a:solidFill>
              </a:rPr>
              <a:t>off</a:t>
            </a:r>
            <a:r>
              <a:rPr lang="cs-CZ" sz="1600" dirty="0">
                <a:solidFill>
                  <a:schemeClr val="bg1"/>
                </a:solidFill>
              </a:rPr>
              <a:t> firem, 1. lékařská fakulta, Univerzita Karlova v Praze </a:t>
            </a:r>
          </a:p>
          <a:p>
            <a:pPr algn="ctr"/>
            <a:r>
              <a:rPr lang="cs-CZ" sz="1600" baseline="30000" dirty="0">
                <a:solidFill>
                  <a:schemeClr val="bg1"/>
                </a:solidFill>
              </a:rPr>
              <a:t>2</a:t>
            </a:r>
            <a:r>
              <a:rPr lang="cs-CZ" sz="1600" dirty="0">
                <a:solidFill>
                  <a:schemeClr val="bg1"/>
                </a:solidFill>
              </a:rPr>
              <a:t> Fakulta biomedicínského inženýrství, ČVUT, </a:t>
            </a:r>
            <a:r>
              <a:rPr lang="cs-CZ" sz="1600" dirty="0" smtClean="0">
                <a:solidFill>
                  <a:schemeClr val="bg1"/>
                </a:solidFill>
              </a:rPr>
              <a:t>Praha</a:t>
            </a:r>
            <a:endParaRPr lang="cs-CZ" sz="1600" dirty="0">
              <a:solidFill>
                <a:schemeClr val="bg1"/>
              </a:solidFill>
            </a:endParaRPr>
          </a:p>
          <a:p>
            <a:pPr algn="ctr"/>
            <a:r>
              <a:rPr lang="cs-CZ" sz="1600" baseline="30000" dirty="0">
                <a:solidFill>
                  <a:schemeClr val="bg1"/>
                </a:solidFill>
              </a:rPr>
              <a:t>3</a:t>
            </a:r>
            <a:r>
              <a:rPr lang="cs-CZ" sz="1600" dirty="0">
                <a:solidFill>
                  <a:schemeClr val="bg1"/>
                </a:solidFill>
              </a:rPr>
              <a:t> Interní klinika 2. LF UK a FN Motol, Praha </a:t>
            </a:r>
          </a:p>
        </p:txBody>
      </p:sp>
      <p:sp>
        <p:nvSpPr>
          <p:cNvPr id="6" name="TextovéPole 5"/>
          <p:cNvSpPr txBox="1">
            <a:spLocks noChangeAspect="1"/>
          </p:cNvSpPr>
          <p:nvPr/>
        </p:nvSpPr>
        <p:spPr>
          <a:xfrm>
            <a:off x="10421261" y="8099727"/>
            <a:ext cx="6574611" cy="3693319"/>
          </a:xfrm>
          <a:prstGeom prst="rect">
            <a:avLst/>
          </a:prstGeom>
          <a:noFill/>
          <a:ln w="88900" cap="rnd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just"/>
            <a:r>
              <a:rPr lang="cs-CZ" sz="1800" dirty="0"/>
              <a:t>Vytvořená aplikace generuje na základě individuálního nastavení vstupních parametrů (tj. rozmezí velikosti intenzity fyzické aktivity, velikosti poklesu glykémie a doba trvání tohoto poklesu) seznam situací, které vyhovují nastaveným podmínkám. Každá nalezená situace obsahuje kromě informace o celkovém počtu nachozených kroků, velikosti poklesu </a:t>
            </a:r>
            <a:r>
              <a:rPr lang="cs-CZ" sz="1800" dirty="0" smtClean="0"/>
              <a:t>glykémie, dobu </a:t>
            </a:r>
            <a:r>
              <a:rPr lang="cs-CZ" sz="1800" dirty="0"/>
              <a:t>jejího trvání </a:t>
            </a:r>
            <a:r>
              <a:rPr lang="cs-CZ" sz="1800" dirty="0" smtClean="0"/>
              <a:t>a také </a:t>
            </a:r>
            <a:r>
              <a:rPr lang="cs-CZ" sz="1800" dirty="0"/>
              <a:t>odkaz pro okamžité zobrazení situace v grafické podobě v systému Diani se zvýrazněním nalezeného úseku. </a:t>
            </a:r>
            <a:r>
              <a:rPr lang="cs-CZ" sz="1800" dirty="0" smtClean="0"/>
              <a:t>V druhém grafu jsou zobrazeny také dávky inzulínu a množství sacharidů v přijímaném jídle a aktivita spolu s intenzitou spánku.</a:t>
            </a:r>
          </a:p>
          <a:p>
            <a:pPr algn="just"/>
            <a:r>
              <a:rPr lang="cs-CZ" sz="1800" dirty="0" smtClean="0"/>
              <a:t>Jedná se tedy jak o statistickou vizualizaci dat nalezených úseků podle zadaných podmínek, tak i grafické zobrazení naměřených dat na další stránce, kde jsou zobrazena v denním náhledu.</a:t>
            </a:r>
            <a:endParaRPr lang="cs-CZ" sz="1800" dirty="0"/>
          </a:p>
        </p:txBody>
      </p:sp>
      <p:sp>
        <p:nvSpPr>
          <p:cNvPr id="7" name="TextovéPole 6"/>
          <p:cNvSpPr txBox="1">
            <a:spLocks noChangeAspect="1"/>
          </p:cNvSpPr>
          <p:nvPr/>
        </p:nvSpPr>
        <p:spPr>
          <a:xfrm>
            <a:off x="7023270" y="13454320"/>
            <a:ext cx="44462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1800" dirty="0"/>
              <a:t>Aplikace byla testována u tří pacientů, kteří používali kontinuální monitoraci glykémie spolu s krokoměrem dohromady 169 dní (117, 30 a 22 jednotlivě u každého pacienta). Při nastavení krokové frekvence od 300 do 500 kroků/5min, poklesu glykémie větším než 2 mmol/l a době trvání poklesu delší než 20 minut bylo nalezeno 54 událostí splňujících kritéria (27, 10, 17 jednotlivě u každého pacienta). U těchto událostí došlo celkem ve 12 případech k hypoglykémii a v 9 případech poklesla glykémie do intervalu od 4-5 mmol/l.</a:t>
            </a:r>
            <a:endParaRPr lang="cs-CZ" sz="1000" dirty="0"/>
          </a:p>
        </p:txBody>
      </p:sp>
      <p:sp>
        <p:nvSpPr>
          <p:cNvPr id="8" name="TextovéPole 7"/>
          <p:cNvSpPr txBox="1">
            <a:spLocks noChangeAspect="1"/>
          </p:cNvSpPr>
          <p:nvPr/>
        </p:nvSpPr>
        <p:spPr>
          <a:xfrm>
            <a:off x="1602364" y="18811417"/>
            <a:ext cx="107257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1800" dirty="0"/>
              <a:t>Využíváním aplikace pro automatické vyhledávání situací zvýšené fyzické aktivity související s poklesem glykémie se může časově efektivně pacient poučit z předešlých podobných situací, při nichž došlo k nežádoucím výkyvům glykémie, a provést změny léčebného režimu tak, aby bylo takovýmto výkyvům v příští podobné situaci již zamezeno. Toto řešení může navíc pozitivně ovlivnit přístup pacienta k vykonávání aktivit, kterým se dříve vyhýbal v důsledku špatného zvládání glykemických výkyvů v jejich průběhu</a:t>
            </a:r>
            <a:r>
              <a:rPr lang="cs-CZ" sz="1800" dirty="0" smtClean="0"/>
              <a:t>.</a:t>
            </a:r>
          </a:p>
          <a:p>
            <a:pPr algn="just"/>
            <a:r>
              <a:rPr lang="cs-CZ" sz="1800" dirty="0" smtClean="0"/>
              <a:t>Tento modul implementovaný do webové aplikace Diani je plánováno dále rozšířit o další upřesňující vyhledávací paramenty pro nacházení </a:t>
            </a:r>
            <a:r>
              <a:rPr lang="cs-CZ" sz="1800" dirty="0" smtClean="0"/>
              <a:t>situací se specifickými vlastnostmi jako je např. nalezení jen situací, ve kterých pokles glykémie dosáhne hypoglykémie</a:t>
            </a:r>
            <a:r>
              <a:rPr lang="cs-CZ" sz="1800" dirty="0" smtClean="0"/>
              <a:t>. Jeden z dalších ostře specifikující parametrů pro rozšíření vyhledávacích parametrů je omezení délky časových úseků nalezených. Protože jde o zcela nový přístup k naměřeným datům, je nutno ověřovat výsledky za dozoru experta, jelikož neexistuje žádný jiný validační způsob jak výsledky z tohoto vyhledávacího modulu ověřit.</a:t>
            </a:r>
            <a:endParaRPr lang="cs-CZ" sz="1800" dirty="0"/>
          </a:p>
        </p:txBody>
      </p:sp>
      <p:sp>
        <p:nvSpPr>
          <p:cNvPr id="21" name="Obdélník se zakulacenými rohy na stejné straně 20"/>
          <p:cNvSpPr/>
          <p:nvPr/>
        </p:nvSpPr>
        <p:spPr>
          <a:xfrm rot="10800000">
            <a:off x="1420970" y="4293265"/>
            <a:ext cx="16121224" cy="272409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23" name="TextovéPole 22"/>
          <p:cNvSpPr txBox="1"/>
          <p:nvPr/>
        </p:nvSpPr>
        <p:spPr>
          <a:xfrm>
            <a:off x="8674646" y="4157640"/>
            <a:ext cx="1354247" cy="4692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2400" b="1" spc="32" dirty="0">
                <a:solidFill>
                  <a:schemeClr val="bg1"/>
                </a:solidFill>
              </a:rPr>
              <a:t>Úvod</a:t>
            </a:r>
            <a:r>
              <a:rPr lang="cs-CZ" sz="2400" spc="32" dirty="0"/>
              <a:t> </a:t>
            </a:r>
            <a:endParaRPr lang="cs-CZ" sz="2449" spc="32" dirty="0"/>
          </a:p>
        </p:txBody>
      </p:sp>
      <p:sp>
        <p:nvSpPr>
          <p:cNvPr id="58" name="Obdélník se zakulacenými rohy na stejné straně 57"/>
          <p:cNvSpPr/>
          <p:nvPr/>
        </p:nvSpPr>
        <p:spPr>
          <a:xfrm rot="10800000">
            <a:off x="1324811" y="7265379"/>
            <a:ext cx="16200000" cy="324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59" name="TextovéPole 58"/>
          <p:cNvSpPr txBox="1"/>
          <p:nvPr/>
        </p:nvSpPr>
        <p:spPr>
          <a:xfrm>
            <a:off x="8449155" y="7145740"/>
            <a:ext cx="1805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b="1" spc="32" dirty="0">
                <a:solidFill>
                  <a:schemeClr val="bg1"/>
                </a:solidFill>
              </a:rPr>
              <a:t>Metodika</a:t>
            </a:r>
            <a:r>
              <a:rPr lang="en-US" sz="2400" b="1" spc="32" dirty="0">
                <a:solidFill>
                  <a:schemeClr val="bg1"/>
                </a:solidFill>
              </a:rPr>
              <a:t> </a:t>
            </a:r>
            <a:endParaRPr lang="en-US" sz="1633" b="1" spc="32" dirty="0">
              <a:solidFill>
                <a:schemeClr val="bg1"/>
              </a:solidFill>
            </a:endParaRPr>
          </a:p>
        </p:txBody>
      </p:sp>
      <p:sp>
        <p:nvSpPr>
          <p:cNvPr id="5" name="TextovéPole 4"/>
          <p:cNvSpPr txBox="1">
            <a:spLocks noChangeAspect="1"/>
          </p:cNvSpPr>
          <p:nvPr/>
        </p:nvSpPr>
        <p:spPr>
          <a:xfrm>
            <a:off x="1743989" y="4810697"/>
            <a:ext cx="154260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800" dirty="0"/>
              <a:t>Systém Diani umožňuje současné zobrazení a analýzu hodnot z krokoměru, kontinuálního monitoru glykémie, dávky inzulínu a obsahu sacharidů v jídle. Znalost chování glykémie v průběhu fyzické aktivity je pro pacienty zejména s diabetem 1. typu klíčovou informací pro adekvátní nastavení a načasování inzulínových dávek a doplňování sacharidů. </a:t>
            </a:r>
          </a:p>
          <a:p>
            <a:r>
              <a:rPr lang="cs-CZ" sz="1800" dirty="0"/>
              <a:t>Automatické vyhledávání takovýchto situací v naměřených datech může pomoci pacientovi rychle nalézt místa, která byla pro něj problematická z hlediska zvládání glykemických výkyvů. Pacient se tak může poučit, jak se jeho glykémie chová v souvislosti s velikostí a trváním dané pohybové aktivity, a v budoucnu se vyhnout opakování případných chyb. Systém zároveň výrazně šetří čas pacienta i lékaře.</a:t>
            </a:r>
          </a:p>
        </p:txBody>
      </p:sp>
      <p:sp>
        <p:nvSpPr>
          <p:cNvPr id="74" name="TextovéPole 73"/>
          <p:cNvSpPr txBox="1"/>
          <p:nvPr/>
        </p:nvSpPr>
        <p:spPr>
          <a:xfrm>
            <a:off x="4482478" y="15060949"/>
            <a:ext cx="137004" cy="20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758" b="1" dirty="0">
                <a:solidFill>
                  <a:schemeClr val="bg1"/>
                </a:solidFill>
              </a:rPr>
              <a:t>B</a:t>
            </a:r>
            <a:endParaRPr lang="en-US" sz="758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http://old.techlib.cz/public/userfiles/Image/medaile_fbmi_sediv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92" b="95101" l="4874" r="95126">
                        <a14:foregroundMark x1="65042" y1="22635" x2="25714" y2="24493"/>
                        <a14:foregroundMark x1="23697" y1="27027" x2="11092" y2="56250"/>
                        <a14:foregroundMark x1="53277" y1="75338" x2="53277" y2="75338"/>
                        <a14:foregroundMark x1="53277" y1="84797" x2="82017" y2="68243"/>
                        <a14:foregroundMark x1="36303" y1="82095" x2="12941" y2="57939"/>
                        <a14:foregroundMark x1="27227" y1="16723" x2="53277" y2="7601"/>
                        <a14:foregroundMark x1="61513" y1="13007" x2="79664" y2="30574"/>
                        <a14:foregroundMark x1="69412" y1="16723" x2="84370" y2="29392"/>
                        <a14:foregroundMark x1="37479" y1="27365" x2="41008" y2="62669"/>
                        <a14:foregroundMark x1="55630" y1="30068" x2="51261" y2="69764"/>
                        <a14:foregroundMark x1="43361" y1="29392" x2="45042" y2="46453"/>
                        <a14:foregroundMark x1="33613" y1="42736" x2="33613" y2="42736"/>
                        <a14:foregroundMark x1="40672" y1="67061" x2="40672" y2="67061"/>
                        <a14:foregroundMark x1="74118" y1="57432" x2="76975" y2="42399"/>
                        <a14:foregroundMark x1="89916" y1="36149" x2="90420" y2="44764"/>
                        <a14:foregroundMark x1="90420" y1="54730" x2="88403" y2="63007"/>
                        <a14:foregroundMark x1="91933" y1="43581" x2="91092" y2="53547"/>
                        <a14:foregroundMark x1="93445" y1="56250" x2="83193" y2="72128"/>
                        <a14:foregroundMark x1="87899" y1="66554" x2="83193" y2="72128"/>
                        <a14:foregroundMark x1="88403" y1="69426" x2="88403" y2="69426"/>
                        <a14:foregroundMark x1="84370" y1="74493" x2="84370" y2="74493"/>
                        <a14:foregroundMark x1="80504" y1="79223" x2="71429" y2="86486"/>
                        <a14:foregroundMark x1="68235" y1="88851" x2="55294" y2="87669"/>
                        <a14:foregroundMark x1="72941" y1="81757" x2="72941" y2="81757"/>
                        <a14:foregroundMark x1="63866" y1="90034" x2="45042" y2="92399"/>
                        <a14:foregroundMark x1="60840" y1="92736" x2="60840" y2="92736"/>
                        <a14:foregroundMark x1="58319" y1="92736" x2="49748" y2="93243"/>
                        <a14:foregroundMark x1="49748" y1="93243" x2="43025" y2="92399"/>
                        <a14:foregroundMark x1="43025" y1="91216" x2="25210" y2="83277"/>
                        <a14:foregroundMark x1="27563" y1="84122" x2="20504" y2="73311"/>
                        <a14:foregroundMark x1="20840" y1="17399" x2="12605" y2="27365"/>
                        <a14:foregroundMark x1="10252" y1="31757" x2="6723" y2="43581"/>
                        <a14:foregroundMark x1="6723" y1="47128" x2="7899" y2="62669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6942" y="1994109"/>
            <a:ext cx="1588377" cy="1580368"/>
          </a:xfrm>
          <a:prstGeom prst="rect">
            <a:avLst/>
          </a:prstGeom>
          <a:noFill/>
        </p:spPr>
      </p:pic>
      <p:pic>
        <p:nvPicPr>
          <p:cNvPr id="84" name="Obrázek 8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147" y="2043079"/>
            <a:ext cx="1578392" cy="1567869"/>
          </a:xfrm>
          <a:prstGeom prst="rect">
            <a:avLst/>
          </a:prstGeom>
        </p:spPr>
      </p:pic>
      <p:sp>
        <p:nvSpPr>
          <p:cNvPr id="60" name="TextovéPole 59"/>
          <p:cNvSpPr txBox="1"/>
          <p:nvPr/>
        </p:nvSpPr>
        <p:spPr>
          <a:xfrm>
            <a:off x="4072240" y="22346106"/>
            <a:ext cx="9782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</a:rPr>
              <a:t>Milan Poláček, </a:t>
            </a:r>
            <a:r>
              <a:rPr lang="cs-CZ" sz="1600" dirty="0"/>
              <a:t>Fakulta biomedicínského inženýrství ČVUT</a:t>
            </a:r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</a:rPr>
              <a:t>, Nám. Sítná 3105, 272 01 Kladno. </a:t>
            </a:r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  <a:hlinkClick r:id="rId5"/>
              </a:rPr>
              <a:t>polacmi1@fel.cvut.cz</a:t>
            </a:r>
            <a:endParaRPr lang="en-US" sz="1600" dirty="0"/>
          </a:p>
        </p:txBody>
      </p:sp>
      <p:sp>
        <p:nvSpPr>
          <p:cNvPr id="64" name="Obdélník se zakulacenými rohy na stejné straně 63"/>
          <p:cNvSpPr/>
          <p:nvPr/>
        </p:nvSpPr>
        <p:spPr>
          <a:xfrm rot="10800000">
            <a:off x="1324810" y="12868555"/>
            <a:ext cx="16200000" cy="324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68" name="Obdélník se zakulacenými rohy na stejné straně 67"/>
          <p:cNvSpPr/>
          <p:nvPr/>
        </p:nvSpPr>
        <p:spPr>
          <a:xfrm rot="10800000">
            <a:off x="1324812" y="18171413"/>
            <a:ext cx="16200000" cy="324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67" name="TextovéPole 66"/>
          <p:cNvSpPr txBox="1"/>
          <p:nvPr/>
        </p:nvSpPr>
        <p:spPr>
          <a:xfrm>
            <a:off x="8620024" y="18063175"/>
            <a:ext cx="13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b="1" spc="32" dirty="0">
                <a:solidFill>
                  <a:schemeClr val="bg1"/>
                </a:solidFill>
              </a:rPr>
              <a:t>Závěr</a:t>
            </a:r>
            <a:endParaRPr lang="en-US" sz="2400" b="1" spc="32" dirty="0">
              <a:solidFill>
                <a:schemeClr val="bg1"/>
              </a:solidFill>
            </a:endParaRPr>
          </a:p>
        </p:txBody>
      </p:sp>
      <p:sp>
        <p:nvSpPr>
          <p:cNvPr id="24" name="TextovéPole 23"/>
          <p:cNvSpPr txBox="1"/>
          <p:nvPr/>
        </p:nvSpPr>
        <p:spPr>
          <a:xfrm>
            <a:off x="8216257" y="12726196"/>
            <a:ext cx="215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400" b="1" spc="32" dirty="0">
                <a:solidFill>
                  <a:schemeClr val="bg1"/>
                </a:solidFill>
              </a:rPr>
              <a:t>Výsledky</a:t>
            </a:r>
            <a:endParaRPr lang="en-US" sz="2400" b="1" spc="32" dirty="0">
              <a:solidFill>
                <a:schemeClr val="bg1"/>
              </a:solidFill>
            </a:endParaRPr>
          </a:p>
        </p:txBody>
      </p:sp>
      <p:sp>
        <p:nvSpPr>
          <p:cNvPr id="14" name="TextovéPole 13"/>
          <p:cNvSpPr txBox="1"/>
          <p:nvPr/>
        </p:nvSpPr>
        <p:spPr>
          <a:xfrm>
            <a:off x="7097910" y="17082243"/>
            <a:ext cx="40907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900" dirty="0" smtClean="0"/>
              <a:t>Použitá data jsou z období 2.pol 2015 a 1. čtvrtletí 2017</a:t>
            </a:r>
            <a:endParaRPr lang="cs-CZ" sz="1000" dirty="0"/>
          </a:p>
        </p:txBody>
      </p:sp>
      <p:pic>
        <p:nvPicPr>
          <p:cNvPr id="1026" name="Obrázek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3217" y="13315131"/>
            <a:ext cx="5017029" cy="415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214" y="13330773"/>
            <a:ext cx="5359001" cy="4156136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6145" y="18698888"/>
            <a:ext cx="4002607" cy="3364378"/>
          </a:xfrm>
          <a:prstGeom prst="rect">
            <a:avLst/>
          </a:prstGeom>
        </p:spPr>
      </p:pic>
      <p:pic>
        <p:nvPicPr>
          <p:cNvPr id="13" name="Obrázek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3989" y="7776740"/>
            <a:ext cx="7844307" cy="437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3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3860</TotalTime>
  <Words>205</Words>
  <Application>Microsoft Office PowerPoint</Application>
  <PresentationFormat>Vlastní</PresentationFormat>
  <Paragraphs>19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ヒラギノ角ゴ Pro W3</vt:lpstr>
      <vt:lpstr>Motiv Office</vt:lpstr>
      <vt:lpstr>Aplikace pro automatické vyhledávání situací zvýšené fyzické aktivity v datech získaných z krokoměru a jejich komparace s hodnotami glykémie ze CGM u pacientů s diabetes mellitus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Dlouhodobé používání mobilních elektronických zařízení pro monitoraci  a vyhodnocování glykémie, obsahu sacharidů, dávek inzulínu a pohybové aktivity u pacienta s diabetem 1. typu vede ke zlepšení metabolické kompenzace – kazuistika</dc:title>
  <dc:creator>Milan Poláček</dc:creator>
  <cp:lastModifiedBy>Milan Polacek</cp:lastModifiedBy>
  <cp:revision>97</cp:revision>
  <dcterms:created xsi:type="dcterms:W3CDTF">2016-03-24T18:09:50Z</dcterms:created>
  <dcterms:modified xsi:type="dcterms:W3CDTF">2017-03-30T09:40:32Z</dcterms:modified>
</cp:coreProperties>
</file>
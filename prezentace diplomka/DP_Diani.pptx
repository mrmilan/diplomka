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5"/>
  </p:notesMasterIdLst>
  <p:sldIdLst>
    <p:sldId id="256" r:id="rId2"/>
    <p:sldId id="261" r:id="rId3"/>
    <p:sldId id="266" r:id="rId4"/>
    <p:sldId id="274" r:id="rId5"/>
    <p:sldId id="275" r:id="rId6"/>
    <p:sldId id="276" r:id="rId7"/>
    <p:sldId id="277" r:id="rId8"/>
    <p:sldId id="258" r:id="rId9"/>
    <p:sldId id="268" r:id="rId10"/>
    <p:sldId id="281" r:id="rId11"/>
    <p:sldId id="259" r:id="rId12"/>
    <p:sldId id="282" r:id="rId13"/>
    <p:sldId id="269" r:id="rId14"/>
    <p:sldId id="279" r:id="rId15"/>
    <p:sldId id="286" r:id="rId16"/>
    <p:sldId id="280" r:id="rId17"/>
    <p:sldId id="283" r:id="rId18"/>
    <p:sldId id="285" r:id="rId19"/>
    <p:sldId id="284" r:id="rId20"/>
    <p:sldId id="264" r:id="rId21"/>
    <p:sldId id="262" r:id="rId22"/>
    <p:sldId id="270" r:id="rId23"/>
    <p:sldId id="26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 Holubová" initials="AH" lastIdx="1" clrIdx="0">
    <p:extLst>
      <p:ext uri="{19B8F6BF-5375-455C-9EA6-DF929625EA0E}">
        <p15:presenceInfo xmlns:p15="http://schemas.microsoft.com/office/powerpoint/2012/main" userId="c71a517d164abc0b" providerId="Windows Live"/>
      </p:ext>
    </p:extLst>
  </p:cmAuthor>
  <p:cmAuthor id="2" name="Milan Poláček" initials="MP" lastIdx="1" clrIdx="1">
    <p:extLst>
      <p:ext uri="{19B8F6BF-5375-455C-9EA6-DF929625EA0E}">
        <p15:presenceInfo xmlns:p15="http://schemas.microsoft.com/office/powerpoint/2012/main" userId="Milan Poláč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0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 autoAdjust="0"/>
    <p:restoredTop sz="86756" autoAdjust="0"/>
  </p:normalViewPr>
  <p:slideViewPr>
    <p:cSldViewPr snapToGrid="0">
      <p:cViewPr varScale="1">
        <p:scale>
          <a:sx n="81" d="100"/>
          <a:sy n="81" d="100"/>
        </p:scale>
        <p:origin x="40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C8B843-1916-423D-A1DA-BF80B31ADF72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D58AD-6389-4BE8-9750-33B383CC1F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54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Vážený</a:t>
            </a:r>
            <a:r>
              <a:rPr lang="cs-CZ" baseline="0" dirty="0" smtClean="0"/>
              <a:t> předsedo</a:t>
            </a:r>
            <a:r>
              <a:rPr lang="cs-CZ" dirty="0" smtClean="0"/>
              <a:t> komise, vážená</a:t>
            </a:r>
            <a:r>
              <a:rPr lang="cs-CZ" baseline="0" dirty="0" smtClean="0"/>
              <a:t> komise rád bych vám v následujících minutách představil svoji diplomovou práci na téma Návrh a implementace webové aplikace pro telemedicínské řešení zaměřené na diabetes, kterou jsem napsal pod vedením doktora Mužíka a konzultující vedoucí docentkou Lhotskou.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32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</a:t>
            </a:r>
            <a:r>
              <a:rPr lang="cs-CZ" baseline="0" dirty="0" smtClean="0"/>
              <a:t> práce bylo implementovat multiplatformní aplikaci pro </a:t>
            </a:r>
            <a:r>
              <a:rPr lang="cs-CZ" dirty="0" smtClean="0"/>
              <a:t>sledování parametrů majících vliv na hladinu</a:t>
            </a:r>
            <a:r>
              <a:rPr lang="cs-CZ" baseline="0" dirty="0" smtClean="0"/>
              <a:t> glykémie;</a:t>
            </a:r>
            <a:br>
              <a:rPr lang="cs-CZ" baseline="0" dirty="0" smtClean="0"/>
            </a:br>
            <a:r>
              <a:rPr lang="cs-CZ" baseline="0" dirty="0" smtClean="0"/>
              <a:t>Tato aplikace bude zobrazovat data tak aby mohl vzdáleně </a:t>
            </a:r>
            <a:r>
              <a:rPr lang="cs-CZ" baseline="0" dirty="0" err="1" smtClean="0"/>
              <a:t>supervizovat</a:t>
            </a:r>
            <a:r>
              <a:rPr lang="cs-CZ" baseline="0" dirty="0" smtClean="0"/>
              <a:t> lékař pacienta</a:t>
            </a:r>
          </a:p>
          <a:p>
            <a:r>
              <a:rPr lang="cs-CZ" baseline="0" dirty="0" smtClean="0"/>
              <a:t>Funkcionality aplikace bude možno využít a aplikaci doplnit pro klinické studie</a:t>
            </a:r>
          </a:p>
          <a:p>
            <a:r>
              <a:rPr lang="cs-CZ" baseline="0" dirty="0" smtClean="0"/>
              <a:t>Aplikace bude vyvíjena v ASP.NET MVC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baseline="0" dirty="0" smtClean="0"/>
              <a:t>Diabetes -&gt;</a:t>
            </a:r>
            <a:r>
              <a:rPr lang="cs-CZ" dirty="0" smtClean="0"/>
              <a:t>Chronické</a:t>
            </a:r>
            <a:r>
              <a:rPr lang="cs-CZ" baseline="0" dirty="0" smtClean="0"/>
              <a:t> onemocnění , potřebují monitorovat mnoho parametrů, které mají vliv na výkyvy glykémie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Nekompatibilita </a:t>
            </a:r>
            <a:r>
              <a:rPr lang="cs-CZ" dirty="0" smtClean="0"/>
              <a:t>přístrojů </a:t>
            </a:r>
            <a:r>
              <a:rPr lang="cs-CZ" dirty="0" smtClean="0"/>
              <a:t>-&gt; </a:t>
            </a:r>
            <a:r>
              <a:rPr lang="cs-CZ" sz="1200" dirty="0" smtClean="0"/>
              <a:t>Jsme schopni měřit různé parametry, různými druhy zařízení. Stává</a:t>
            </a:r>
            <a:r>
              <a:rPr lang="cs-CZ" sz="1200" baseline="0" dirty="0" smtClean="0"/>
              <a:t> se</a:t>
            </a:r>
            <a:r>
              <a:rPr lang="cs-CZ" dirty="0" smtClean="0"/>
              <a:t> </a:t>
            </a:r>
            <a:r>
              <a:rPr lang="cs-CZ" dirty="0" smtClean="0"/>
              <a:t>co jedno zařízení to jeden SW pro vyhodnocení dat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Nedostatek standardů pro interpretaci dat - &gt; nevíme jaké závislosti sledovat, živý obor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Špatná edukace -&gt; vidí se s ním doktor 4x za rok,</a:t>
            </a:r>
            <a:r>
              <a:rPr lang="cs-CZ" baseline="0" dirty="0" smtClean="0"/>
              <a:t> krátký čas na </a:t>
            </a:r>
            <a:r>
              <a:rPr lang="cs-CZ" baseline="0" dirty="0" smtClean="0"/>
              <a:t>vyšetření; </a:t>
            </a:r>
            <a:r>
              <a:rPr lang="cs-CZ" baseline="0" dirty="0" smtClean="0"/>
              <a:t/>
            </a:r>
            <a:br>
              <a:rPr lang="cs-CZ" baseline="0" dirty="0" smtClean="0"/>
            </a:br>
            <a:r>
              <a:rPr lang="cs-CZ" dirty="0" smtClean="0"/>
              <a:t>Špatná interpretace výsledků podaná pacientem – nedostatečné registrace, validita dat,…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s-CZ" dirty="0" smtClean="0"/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5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</a:t>
            </a:r>
            <a:r>
              <a:rPr lang="cs-CZ" baseline="0" dirty="0" err="1" smtClean="0"/>
              <a:t>dipl</a:t>
            </a:r>
            <a:r>
              <a:rPr lang="cs-CZ" baseline="0" dirty="0" smtClean="0"/>
              <a:t>. Práce jsem udělal rešerši existující podobná řešení.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80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Největším problém jsou tyto prvky a to málo sledovaných parametrů a nemožnost</a:t>
            </a:r>
            <a:r>
              <a:rPr lang="cs-CZ" baseline="0" dirty="0" smtClean="0"/>
              <a:t> je zobrazit komparativně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Např. </a:t>
            </a:r>
            <a:r>
              <a:rPr lang="cs-CZ" dirty="0" err="1" smtClean="0"/>
              <a:t>Carelink</a:t>
            </a:r>
            <a:r>
              <a:rPr lang="cs-CZ" dirty="0" smtClean="0"/>
              <a:t> sice umožňuje v rámci exportu určité porovnání parametrů v tabulkovém zobrazení ale tato vizualizace</a:t>
            </a:r>
            <a:r>
              <a:rPr lang="cs-CZ" baseline="0" dirty="0" smtClean="0"/>
              <a:t> není přehledná.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6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Výchozí stav že chyběla webová aplikace již</a:t>
            </a:r>
            <a:r>
              <a:rPr lang="cs-CZ" baseline="0" dirty="0" smtClean="0"/>
              <a:t> nad exitujícím monitorovacím systémem.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4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</a:t>
            </a:r>
            <a:r>
              <a:rPr lang="cs-CZ" baseline="0" dirty="0" smtClean="0"/>
              <a:t> v rámci diplomové práce byla vyvinuta tato aplikace. Která doplnila již existující systém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57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určena pro dlouhodobou</a:t>
            </a:r>
            <a:r>
              <a:rPr lang="cs-CZ" baseline="0" dirty="0" smtClean="0"/>
              <a:t> monitoraci pacientů; </a:t>
            </a:r>
          </a:p>
          <a:p>
            <a:r>
              <a:rPr lang="cs-CZ" baseline="0" dirty="0" smtClean="0"/>
              <a:t>usnadnění sběru a ukládání velkého množství dat;</a:t>
            </a:r>
          </a:p>
          <a:p>
            <a:r>
              <a:rPr lang="cs-CZ" baseline="0" dirty="0" smtClean="0"/>
              <a:t>přehledná interpretace dat (nejen glykémie ale i aktivity, insulinu, sacharidů);</a:t>
            </a:r>
          </a:p>
          <a:p>
            <a:r>
              <a:rPr lang="cs-CZ" baseline="0" dirty="0" smtClean="0"/>
              <a:t>datová analýza;</a:t>
            </a:r>
          </a:p>
          <a:p>
            <a:r>
              <a:rPr lang="cs-CZ" baseline="0" dirty="0" smtClean="0"/>
              <a:t>edukace pacientů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90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Aplikace je</a:t>
            </a:r>
            <a:r>
              <a:rPr lang="cs-CZ" baseline="0" dirty="0" smtClean="0"/>
              <a:t> testována se souhlasem etické komise o sdílení anonymizovaných dat  v klinické studii ve fakultní nemocnici Motol pod vedením MUDr. (doktora) Brože.  </a:t>
            </a:r>
          </a:p>
          <a:p>
            <a:r>
              <a:rPr lang="cs-CZ" baseline="0" dirty="0" smtClean="0"/>
              <a:t>Za jeho supervize je vytvářena aplikace, která je v současné době určena převážně pro výzkumné účely, kterými jsou ověření algoritmů pro detekci specifických situací (jídelní incidenty, glykemické situace). Dále porovnávání trendů aktivity a glykémie, inzulínových jednotek a sacharidových dávek.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267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563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Na levé straně je vidět úvodní</a:t>
            </a:r>
            <a:r>
              <a:rPr lang="cs-CZ" baseline="0" dirty="0" smtClean="0"/>
              <a:t> stránka přehledových grafů. Hlavním přínosem je možnost porovnat glykemická data s aktivitou v přímé časové vazbě bez přepínání mezi okny.</a:t>
            </a:r>
            <a:br>
              <a:rPr lang="cs-CZ" baseline="0" dirty="0" smtClean="0"/>
            </a:br>
            <a:r>
              <a:rPr lang="cs-CZ" baseline="0" dirty="0" smtClean="0"/>
              <a:t>Na pravé straně jsou vidět glykemické profily, které jsou nedílnou součástí většiny systémů pro sledování glykémie.</a:t>
            </a:r>
          </a:p>
          <a:p>
            <a:r>
              <a:rPr lang="cs-CZ" baseline="0" dirty="0" smtClean="0"/>
              <a:t>Systém dovoluje krom zobrazení těchto grafů také správu zařízení (konkrétně </a:t>
            </a:r>
            <a:r>
              <a:rPr lang="cs-CZ" baseline="0" dirty="0" err="1" smtClean="0"/>
              <a:t>Fibit</a:t>
            </a:r>
            <a:r>
              <a:rPr lang="cs-CZ" baseline="0" dirty="0" smtClean="0"/>
              <a:t>), vedení karty pacienta, správu uživatelů analýzu specifických situací (o kterých se zmíním později</a:t>
            </a:r>
            <a:r>
              <a:rPr lang="cs-CZ" baseline="0" dirty="0" smtClean="0"/>
              <a:t>).</a:t>
            </a:r>
          </a:p>
          <a:p>
            <a:r>
              <a:rPr lang="cs-CZ" baseline="0" dirty="0" smtClean="0"/>
              <a:t>Aplikace jak jsem zmínil umožňuje správu zařízení, pacientů a jejich propojení dále správu uživatelů import dat a export.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69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</a:t>
            </a:r>
            <a:r>
              <a:rPr lang="cs-CZ" baseline="0" dirty="0" smtClean="0"/>
              <a:t> je vidět karta pacienta která obsahuje krom klasických rubrik jako je jméno, přímení, datum narození a pohlaví zobrazuje kromě propojených zařízení, také naměřené veličiny jako např. glykovaný hemoglobin, hmotnost….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41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Jako zatím</a:t>
            </a:r>
            <a:r>
              <a:rPr lang="cs-CZ" baseline="0" dirty="0" smtClean="0"/>
              <a:t> poslední inovací je doplnění systém o analytické moduly. Snahou těchto modulů je pomoci při práci lékaři a popř. navést zkušenějšího pacienta k hledání  specifických situací.</a:t>
            </a:r>
          </a:p>
          <a:p>
            <a:r>
              <a:rPr lang="cs-CZ" dirty="0" smtClean="0"/>
              <a:t>Modul pro hledání glykemických situací má pomoci</a:t>
            </a:r>
            <a:r>
              <a:rPr lang="cs-CZ" baseline="0" dirty="0" smtClean="0"/>
              <a:t> nalézt prudké poklesy glykémie při specifické výši aktivity. Kdy zadavatel může vyhledávat nejenom podle horního resp. dolního prahu aktivity ale i podle délky nalezeného segmentu a velikost poklesu glykémie v daném segmentu.</a:t>
            </a:r>
          </a:p>
          <a:p>
            <a:r>
              <a:rPr lang="cs-CZ" baseline="0" dirty="0" smtClean="0"/>
              <a:t>Modul pro vyhledávání jídelní situací umožňuje nalézt situace kdy pacient přijmu sacharidy za daných kritérií glykémie a aktivity před a po jídle.</a:t>
            </a:r>
          </a:p>
          <a:p>
            <a:r>
              <a:rPr lang="cs-CZ" baseline="0" dirty="0" smtClean="0"/>
              <a:t>Oba dva tyto moduly jsou v současné době jsou součástí výzkumu pro další využití.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381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 je vidět zjednodušený diagram  modulu pro hledání jídelních situací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0005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6415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Popíši stručně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85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Takto se zobrazí vyhledaná data podle zadaných</a:t>
            </a:r>
            <a:r>
              <a:rPr lang="cs-CZ" baseline="0" dirty="0" smtClean="0"/>
              <a:t> kritérií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7143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Uživatel má možnost si jednotlivé dny prohlédnout v přehledovém grafu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370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Kde vidí zvýrazněné zvolené segmenty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74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ročního sběru dat zpětné vazby jsem web postupem času optimalizoval i pro mobilní zařízení. Na obrázku vlevo si můžete všimnout upozornění pro uživatele aby zařízení použil v horizontálním položení. Z praktického důvodu lepšího zobrazení grafů. V Částech webu kde toto rozložení není třeba se tato informace při vertikálním použití nezobrazuje.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972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 současné době je aplikace nasazena a</a:t>
            </a:r>
            <a:r>
              <a:rPr lang="cs-CZ" baseline="0" dirty="0" smtClean="0"/>
              <a:t> data jsou sbírána ve FN </a:t>
            </a:r>
            <a:r>
              <a:rPr lang="cs-CZ" baseline="0" dirty="0" err="1" smtClean="0"/>
              <a:t>motol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Pomocí této webové aplikace jsou data vyhodnocována a spravována v anonymizované formě.</a:t>
            </a:r>
          </a:p>
          <a:p>
            <a:r>
              <a:rPr lang="cs-CZ" baseline="0" dirty="0" smtClean="0"/>
              <a:t>Posledními novými funkcionalitami jsou moduly pro analýzu data (Hledání glykemických situací a jídelních situací), které jsou součástí výzkumné práce.</a:t>
            </a:r>
          </a:p>
          <a:p>
            <a:r>
              <a:rPr lang="cs-CZ" baseline="0" dirty="0" smtClean="0"/>
              <a:t>Ačkoliv je aplikace zejména orientována pro výzkumnou činnost v průběhu roku jsem žádal testovací uživatele aby vyplnili </a:t>
            </a:r>
            <a:r>
              <a:rPr lang="cs-CZ" baseline="0" dirty="0" smtClean="0"/>
              <a:t>dotazník </a:t>
            </a:r>
            <a:r>
              <a:rPr lang="cs-CZ" baseline="0" dirty="0" smtClean="0"/>
              <a:t>o vhodnosti aplikace.</a:t>
            </a:r>
          </a:p>
          <a:p>
            <a:r>
              <a:rPr lang="cs-CZ" sz="1200" dirty="0" smtClean="0"/>
              <a:t>Aplikace</a:t>
            </a:r>
            <a:r>
              <a:rPr lang="cs-CZ" sz="1200" baseline="0" dirty="0" smtClean="0"/>
              <a:t> je stabilní a střední doba bezporuchového provozu je cca 2100 hodin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356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Výsledky</a:t>
            </a:r>
            <a:r>
              <a:rPr lang="cs-CZ" baseline="0" dirty="0" smtClean="0"/>
              <a:t> práce jsem publikoval jako autor na Diabetologických dne v Luhačovicích</a:t>
            </a:r>
          </a:p>
          <a:p>
            <a:r>
              <a:rPr lang="cs-CZ" baseline="0" dirty="0" smtClean="0"/>
              <a:t>Na konferencích </a:t>
            </a:r>
            <a:r>
              <a:rPr lang="cs-CZ" baseline="0" dirty="0" err="1" smtClean="0"/>
              <a:t>Advanced</a:t>
            </a:r>
            <a:r>
              <a:rPr lang="cs-CZ" baseline="0" dirty="0" smtClean="0"/>
              <a:t> Technologies and </a:t>
            </a:r>
            <a:r>
              <a:rPr lang="cs-CZ" baseline="0" dirty="0" err="1" smtClean="0"/>
              <a:t>treatments</a:t>
            </a:r>
            <a:r>
              <a:rPr lang="cs-CZ" baseline="0" dirty="0" smtClean="0"/>
              <a:t> </a:t>
            </a:r>
            <a:r>
              <a:rPr lang="cs-CZ" baseline="0" dirty="0" err="1" smtClean="0"/>
              <a:t>for</a:t>
            </a:r>
            <a:r>
              <a:rPr lang="cs-CZ" baseline="0" dirty="0" smtClean="0"/>
              <a:t> diabetes jsem byl spoluautorem jako článku v </a:t>
            </a:r>
            <a:r>
              <a:rPr lang="cs-CZ" baseline="0" dirty="0" err="1" smtClean="0"/>
              <a:t>The</a:t>
            </a:r>
            <a:r>
              <a:rPr lang="cs-CZ" baseline="0" dirty="0" smtClean="0"/>
              <a:t> </a:t>
            </a:r>
            <a:r>
              <a:rPr lang="cs-CZ" baseline="0" dirty="0" err="1" smtClean="0"/>
              <a:t>Internation</a:t>
            </a:r>
            <a:r>
              <a:rPr lang="cs-CZ" baseline="0" dirty="0" smtClean="0"/>
              <a:t> </a:t>
            </a:r>
            <a:r>
              <a:rPr lang="cs-CZ" baseline="0" dirty="0" err="1" smtClean="0"/>
              <a:t>Journal</a:t>
            </a:r>
            <a:r>
              <a:rPr lang="cs-CZ" baseline="0" dirty="0" smtClean="0"/>
              <a:t> on </a:t>
            </a:r>
            <a:r>
              <a:rPr lang="cs-CZ" baseline="0" dirty="0" err="1" smtClean="0"/>
              <a:t>Biomedicine</a:t>
            </a:r>
            <a:r>
              <a:rPr lang="cs-CZ" baseline="0" dirty="0" smtClean="0"/>
              <a:t> and </a:t>
            </a:r>
            <a:r>
              <a:rPr lang="cs-CZ" baseline="0" dirty="0" err="1" smtClean="0"/>
              <a:t>Healthcare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22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 smtClean="0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cs-CZ" smtClean="0"/>
              <a:t>Upravte styly předlohy textu.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6/9/2017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49629" y="1429788"/>
            <a:ext cx="11621193" cy="2782325"/>
          </a:xfrm>
        </p:spPr>
        <p:txBody>
          <a:bodyPr/>
          <a:lstStyle/>
          <a:p>
            <a:pPr algn="ctr"/>
            <a:r>
              <a:rPr lang="cs-CZ" sz="5400" dirty="0"/>
              <a:t>Návrh a implementace webové aplikace pro telemedicínské řešení zaměřené na diabetes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786722" y="5226267"/>
            <a:ext cx="8825658" cy="861420"/>
          </a:xfrm>
        </p:spPr>
        <p:txBody>
          <a:bodyPr numCol="2">
            <a:normAutofit/>
          </a:bodyPr>
          <a:lstStyle/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Bc. Milan Poláček</a:t>
            </a:r>
          </a:p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Vedoucí: Ing. Jan Mužík, Ph.D.</a:t>
            </a:r>
          </a:p>
          <a:p>
            <a:endParaRPr lang="cs-CZ" b="1" dirty="0" smtClean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/>
            <a:r>
              <a:rPr lang="cs-CZ" b="1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Praha 2017</a:t>
            </a:r>
            <a:endParaRPr lang="cs-CZ" b="1" dirty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9586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Zadání práce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Navrhnout a implementovat webovou aplikaci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prostředky </a:t>
            </a:r>
            <a:r>
              <a:rPr lang="cs-CZ" sz="2400" dirty="0" smtClean="0"/>
              <a:t>nad existující databází MS SQL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Umožnit </a:t>
            </a:r>
            <a:r>
              <a:rPr lang="cs-CZ" sz="2400" dirty="0" smtClean="0"/>
              <a:t>vzdálené sledování lékařem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pro klinické studie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</a:t>
            </a:r>
            <a:r>
              <a:rPr lang="cs-CZ" sz="2400" dirty="0" smtClean="0"/>
              <a:t>technologie ASP.NET MVC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6360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Problematika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Diabetes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Nekompatibilita </a:t>
            </a:r>
            <a:r>
              <a:rPr lang="cs-CZ" sz="2400" dirty="0" smtClean="0"/>
              <a:t>přístrojů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Nedostatek standardů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Špatná edukace </a:t>
            </a:r>
            <a:r>
              <a:rPr lang="cs-CZ" sz="2400" dirty="0" smtClean="0"/>
              <a:t>pacienta </a:t>
            </a:r>
            <a:endParaRPr lang="cs-CZ" sz="2400" dirty="0" smtClean="0"/>
          </a:p>
          <a:p>
            <a:pPr>
              <a:lnSpc>
                <a:spcPct val="150000"/>
              </a:lnSpc>
            </a:pPr>
            <a:r>
              <a:rPr lang="cs-CZ" sz="2400" dirty="0"/>
              <a:t>Špatná interpretace výsledků podaná </a:t>
            </a:r>
            <a:r>
              <a:rPr lang="cs-CZ" sz="2400" dirty="0" smtClean="0"/>
              <a:t>pacientem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Velké množství dat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151406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088941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32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1848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9726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9" name="Zástupný symbol pro obsah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9872" y="1318719"/>
            <a:ext cx="10599188" cy="5072186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7363724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7" name="Zástupný symbol pro obsah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6286" y="1258785"/>
            <a:ext cx="10621032" cy="5094514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3589286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Cíle aplikace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Dlouhodobá monitoraci pacientů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Nezávislost na platformě a zařízení (PC)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Usnadnění sběru</a:t>
            </a:r>
            <a:r>
              <a:rPr lang="cs-CZ" sz="2400" dirty="0"/>
              <a:t> </a:t>
            </a:r>
            <a:r>
              <a:rPr lang="cs-CZ" sz="2400" dirty="0" smtClean="0"/>
              <a:t>a ukládání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Přehledná interpretace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Edukace </a:t>
            </a:r>
            <a:r>
              <a:rPr lang="cs-CZ" sz="2400" dirty="0" smtClean="0"/>
              <a:t>pacientů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9555478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Metodika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Vytvoření webové aplikace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 implementace pro vizualizaci sbíraných dat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</a:t>
            </a:r>
            <a:r>
              <a:rPr lang="cs-CZ" sz="2400" dirty="0" smtClean="0"/>
              <a:t>algoritmů pro automatickou detekci problematických </a:t>
            </a:r>
            <a:r>
              <a:rPr lang="cs-CZ" sz="2400" dirty="0" smtClean="0"/>
              <a:t>situací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Testování aplikace a modulů pro analýzu dat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2451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dirty="0" smtClean="0"/>
              <a:t>Přihlašovací a registrační rozhraní</a:t>
            </a:r>
          </a:p>
          <a:p>
            <a:r>
              <a:rPr lang="cs-CZ" dirty="0" smtClean="0"/>
              <a:t>Přehledový graf</a:t>
            </a:r>
          </a:p>
          <a:p>
            <a:r>
              <a:rPr lang="cs-CZ" dirty="0" smtClean="0"/>
              <a:t>Glykemické profily</a:t>
            </a:r>
          </a:p>
          <a:p>
            <a:r>
              <a:rPr lang="cs-CZ" dirty="0" smtClean="0"/>
              <a:t>Správa uživatelského účtu</a:t>
            </a:r>
          </a:p>
          <a:p>
            <a:r>
              <a:rPr lang="cs-CZ" dirty="0" smtClean="0"/>
              <a:t>Propojování zařízení se systémem</a:t>
            </a:r>
          </a:p>
          <a:p>
            <a:r>
              <a:rPr lang="cs-CZ" dirty="0" smtClean="0"/>
              <a:t>Glykemické profily</a:t>
            </a:r>
          </a:p>
          <a:p>
            <a:r>
              <a:rPr lang="cs-CZ" dirty="0" smtClean="0"/>
              <a:t>Import dat ze zařízení</a:t>
            </a:r>
          </a:p>
          <a:p>
            <a:r>
              <a:rPr lang="cs-CZ" dirty="0" smtClean="0"/>
              <a:t>Export dat</a:t>
            </a:r>
          </a:p>
          <a:p>
            <a:r>
              <a:rPr lang="cs-CZ" dirty="0" smtClean="0"/>
              <a:t>Správa pacientů a pacientských karet</a:t>
            </a:r>
          </a:p>
          <a:p>
            <a:r>
              <a:rPr lang="cs-CZ" dirty="0" smtClean="0"/>
              <a:t>Přiřazování a další správa zařízení s pacientem</a:t>
            </a:r>
          </a:p>
          <a:p>
            <a:r>
              <a:rPr lang="cs-CZ" dirty="0" smtClean="0"/>
              <a:t>Vytváření pacientských skupin</a:t>
            </a:r>
          </a:p>
          <a:p>
            <a:r>
              <a:rPr lang="cs-CZ" dirty="0" smtClean="0"/>
              <a:t>Analytické moduly Jídelních a Glykemických situací </a:t>
            </a:r>
          </a:p>
          <a:p>
            <a:r>
              <a:rPr lang="cs-CZ" dirty="0" smtClean="0"/>
              <a:t>Správa uživatelských účtů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627277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- grafy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823"/>
          <a:stretch/>
        </p:blipFill>
        <p:spPr>
          <a:xfrm>
            <a:off x="212455" y="1152983"/>
            <a:ext cx="5701457" cy="5585473"/>
          </a:xfrm>
        </p:spPr>
      </p:pic>
      <p:pic>
        <p:nvPicPr>
          <p:cNvPr id="7" name="Obrázek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5"/>
          <a:stretch/>
        </p:blipFill>
        <p:spPr>
          <a:xfrm>
            <a:off x="6032665" y="1139874"/>
            <a:ext cx="5806934" cy="55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124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– karta pacienta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614" y="1398475"/>
            <a:ext cx="5944817" cy="5219591"/>
          </a:xfrm>
        </p:spPr>
      </p:pic>
    </p:spTree>
    <p:extLst>
      <p:ext uri="{BB962C8B-B14F-4D97-AF65-F5344CB8AC3E}">
        <p14:creationId xmlns:p14="http://schemas.microsoft.com/office/powerpoint/2010/main" val="5211096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Analytické moduly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1085563" y="1762146"/>
            <a:ext cx="8946541" cy="41954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Jídelní situace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Glykemické situace</a:t>
            </a:r>
            <a:endParaRPr lang="cs-CZ" sz="2400" dirty="0"/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6" t="11878" r="13045"/>
          <a:stretch/>
        </p:blipFill>
        <p:spPr>
          <a:xfrm>
            <a:off x="5830785" y="1152983"/>
            <a:ext cx="6139543" cy="5413808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" t="1479" r="7510" b="25588"/>
          <a:stretch/>
        </p:blipFill>
        <p:spPr>
          <a:xfrm>
            <a:off x="776736" y="3162676"/>
            <a:ext cx="7011234" cy="3588449"/>
          </a:xfrm>
          <a:prstGeom prst="rect">
            <a:avLst/>
          </a:prstGeom>
        </p:spPr>
      </p:pic>
      <p:sp>
        <p:nvSpPr>
          <p:cNvPr id="7" name="Obdélník 6"/>
          <p:cNvSpPr/>
          <p:nvPr/>
        </p:nvSpPr>
        <p:spPr>
          <a:xfrm>
            <a:off x="1085563" y="5106389"/>
            <a:ext cx="398853" cy="118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444509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22606" y="2588821"/>
            <a:ext cx="12214605" cy="2464210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5732214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22606" y="2588821"/>
            <a:ext cx="12214605" cy="2464210"/>
          </a:xfrm>
          <a:prstGeom prst="rect">
            <a:avLst/>
          </a:prstGeom>
          <a:solidFill>
            <a:schemeClr val="tx1"/>
          </a:solidFill>
        </p:spPr>
      </p:pic>
      <p:grpSp>
        <p:nvGrpSpPr>
          <p:cNvPr id="11" name="Skupina 10"/>
          <p:cNvGrpSpPr/>
          <p:nvPr/>
        </p:nvGrpSpPr>
        <p:grpSpPr>
          <a:xfrm>
            <a:off x="8225517" y="3085051"/>
            <a:ext cx="3389376" cy="2828544"/>
            <a:chOff x="8485632" y="3560064"/>
            <a:chExt cx="3389376" cy="2828544"/>
          </a:xfrm>
        </p:grpSpPr>
        <p:cxnSp>
          <p:nvCxnSpPr>
            <p:cNvPr id="9" name="Přímá spojnice 8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ál 6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96653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63" y="1769423"/>
            <a:ext cx="12166062" cy="4479515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8626392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</p:spTree>
    <p:extLst>
      <p:ext uri="{BB962C8B-B14F-4D97-AF65-F5344CB8AC3E}">
        <p14:creationId xmlns:p14="http://schemas.microsoft.com/office/powerpoint/2010/main" val="15941726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  <p:grpSp>
        <p:nvGrpSpPr>
          <p:cNvPr id="6" name="Skupina 5"/>
          <p:cNvGrpSpPr/>
          <p:nvPr/>
        </p:nvGrpSpPr>
        <p:grpSpPr>
          <a:xfrm rot="255833" flipH="1">
            <a:off x="1894710" y="3726422"/>
            <a:ext cx="1018910" cy="800190"/>
            <a:chOff x="8485632" y="3560064"/>
            <a:chExt cx="3389376" cy="2828544"/>
          </a:xfrm>
        </p:grpSpPr>
        <p:cxnSp>
          <p:nvCxnSpPr>
            <p:cNvPr id="7" name="Přímá spojnice 6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ál 7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3853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8" t="19048"/>
          <a:stretch/>
        </p:blipFill>
        <p:spPr>
          <a:xfrm>
            <a:off x="3253839" y="1152983"/>
            <a:ext cx="6162214" cy="569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427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Mobilní návrh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355" y="1316127"/>
            <a:ext cx="4930967" cy="2811112"/>
          </a:xfrm>
        </p:spPr>
      </p:pic>
      <p:pic>
        <p:nvPicPr>
          <p:cNvPr id="5" name="Obrázek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1363286"/>
            <a:ext cx="2606692" cy="4620245"/>
          </a:xfrm>
          <a:prstGeom prst="rect">
            <a:avLst/>
          </a:prstGeom>
        </p:spPr>
      </p:pic>
      <p:pic>
        <p:nvPicPr>
          <p:cNvPr id="6" name="Obrázek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4457" y="3090597"/>
            <a:ext cx="5121462" cy="289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587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Závěr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Vytvořena aplikace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umožňuje importovat data z různých zařízení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Moduly pro analýzu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Funkční návrh hodnocen 8 respondenty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je nasazena v provozu 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1947264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Publikace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1246910"/>
            <a:ext cx="11241088" cy="5001490"/>
          </a:xfrm>
        </p:spPr>
        <p:txBody>
          <a:bodyPr>
            <a:noAutofit/>
          </a:bodyPr>
          <a:lstStyle/>
          <a:p>
            <a:r>
              <a:rPr lang="cs-CZ" dirty="0"/>
              <a:t>POLÁČEK, Milan, Anna HOLUBOVÁ, Jan MUŽÍK, Karel HÁNA, Pavel SMRČKA, Milan KVAPIL a Jan BROŽ. Aplikace pro automatické vyhledávání situací zvýšené fyzické aktivity v datech získaných z krokoměru a jejich komparace s hodnotami glykémie ze CGM u pacientů s diabetes mellitus.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2017, </a:t>
            </a:r>
            <a:r>
              <a:rPr lang="cs-CZ" b="1" dirty="0"/>
              <a:t>20</a:t>
            </a:r>
            <a:r>
              <a:rPr lang="cs-CZ" dirty="0"/>
              <a:t>(S1), 52. ISSN 1211-9326</a:t>
            </a:r>
            <a:r>
              <a:rPr lang="cs-CZ" dirty="0" smtClean="0"/>
              <a:t>.</a:t>
            </a:r>
          </a:p>
          <a:p>
            <a:r>
              <a:rPr lang="cs-CZ" dirty="0"/>
              <a:t>POLÁČEK, Milan, Jan MUŽÍK, Marek DOKSANSKÝ, Anna HOLUBOVÁ, Jan BROŽ, Dominik FIALA, Miroslav MUŽNÝ, Karel HÁNA, Jan KAŠPAR, et al. Webový portál pro ukládání, správu, zobrazování a vyhodnocování dat pacientů s diabetes mellitus 1. typu.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2016, </a:t>
            </a:r>
            <a:r>
              <a:rPr lang="cs-CZ" b="1" dirty="0"/>
              <a:t>19</a:t>
            </a:r>
            <a:r>
              <a:rPr lang="cs-CZ" dirty="0"/>
              <a:t>(1), 59. ISSN 1221-9326</a:t>
            </a:r>
            <a:r>
              <a:rPr lang="cs-CZ" dirty="0" smtClean="0"/>
              <a:t>.</a:t>
            </a:r>
          </a:p>
          <a:p>
            <a:r>
              <a:rPr lang="cs-CZ" dirty="0" smtClean="0"/>
              <a:t>V další 14 publikacích jsem spoluautorem</a:t>
            </a:r>
            <a:endParaRPr lang="cs-CZ" dirty="0"/>
          </a:p>
          <a:p>
            <a:pPr marL="0" indent="0">
              <a:buNone/>
            </a:pPr>
            <a:endParaRPr lang="cs-CZ" sz="1100" dirty="0"/>
          </a:p>
        </p:txBody>
      </p:sp>
    </p:spTree>
    <p:extLst>
      <p:ext uri="{BB962C8B-B14F-4D97-AF65-F5344CB8AC3E}">
        <p14:creationId xmlns:p14="http://schemas.microsoft.com/office/powerpoint/2010/main" val="2768531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Otázky z oponentského posudku</a:t>
            </a:r>
            <a:endParaRPr lang="cs-CZ" dirty="0"/>
          </a:p>
        </p:txBody>
      </p:sp>
      <p:sp>
        <p:nvSpPr>
          <p:cNvPr id="2" name="Zástupný symbol pro obsah 1"/>
          <p:cNvSpPr>
            <a:spLocks noGrp="1"/>
          </p:cNvSpPr>
          <p:nvPr>
            <p:ph idx="1"/>
          </p:nvPr>
        </p:nvSpPr>
        <p:spPr>
          <a:xfrm>
            <a:off x="646112" y="2052918"/>
            <a:ext cx="10979832" cy="4195481"/>
          </a:xfrm>
        </p:spPr>
        <p:txBody>
          <a:bodyPr>
            <a:normAutofit/>
          </a:bodyPr>
          <a:lstStyle/>
          <a:p>
            <a:r>
              <a:rPr lang="cs-CZ" sz="2400" dirty="0"/>
              <a:t>Jakým způsobem je řešeno bezpečné ukládání hesel v DB? Jak jsou </a:t>
            </a:r>
            <a:r>
              <a:rPr lang="cs-CZ" sz="2400" dirty="0" smtClean="0"/>
              <a:t>zabezpečena proti </a:t>
            </a:r>
            <a:r>
              <a:rPr lang="cs-CZ" sz="2400" dirty="0"/>
              <a:t>statistickým útokům nebo odcizení DB?</a:t>
            </a:r>
          </a:p>
          <a:p>
            <a:r>
              <a:rPr lang="cs-CZ" sz="2400" dirty="0" smtClean="0"/>
              <a:t>Proč </a:t>
            </a:r>
            <a:r>
              <a:rPr lang="cs-CZ" sz="2400" dirty="0"/>
              <a:t>jste nezvolil řešení s REST API?</a:t>
            </a:r>
          </a:p>
          <a:p>
            <a:r>
              <a:rPr lang="cs-CZ" sz="2400" dirty="0" smtClean="0"/>
              <a:t>Oproti původní </a:t>
            </a:r>
            <a:r>
              <a:rPr lang="cs-CZ" sz="2400" dirty="0"/>
              <a:t>implementaci z </a:t>
            </a:r>
            <a:r>
              <a:rPr lang="cs-CZ" sz="2400" dirty="0" smtClean="0"/>
              <a:t>roku </a:t>
            </a:r>
            <a:r>
              <a:rPr lang="cs-CZ" sz="2400" dirty="0"/>
              <a:t>2016, jaké změny v návrhu/technologiích </a:t>
            </a:r>
            <a:r>
              <a:rPr lang="cs-CZ" sz="2400" dirty="0" smtClean="0"/>
              <a:t>byste </a:t>
            </a:r>
            <a:r>
              <a:rPr lang="pt-BR" sz="2400" dirty="0" smtClean="0"/>
              <a:t>navrhoval </a:t>
            </a:r>
            <a:r>
              <a:rPr lang="pt-BR" sz="2400" dirty="0"/>
              <a:t>s ohledem na dnešní (a budoucí) vývoj?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654351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785</TotalTime>
  <Words>1232</Words>
  <Application>Microsoft Office PowerPoint</Application>
  <PresentationFormat>Širokoúhlá obrazovka</PresentationFormat>
  <Paragraphs>255</Paragraphs>
  <Slides>23</Slides>
  <Notes>22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23</vt:i4>
      </vt:variant>
    </vt:vector>
  </HeadingPairs>
  <TitlesOfParts>
    <vt:vector size="28" baseType="lpstr">
      <vt:lpstr>Arial</vt:lpstr>
      <vt:lpstr>Calibri</vt:lpstr>
      <vt:lpstr>Century Gothic</vt:lpstr>
      <vt:lpstr>Wingdings 3</vt:lpstr>
      <vt:lpstr>Ion</vt:lpstr>
      <vt:lpstr>Návrh a implementace webové aplikace pro telemedicínské řešení zaměřené na diabetes</vt:lpstr>
      <vt:lpstr>Zadání práce</vt:lpstr>
      <vt:lpstr>Problematika</vt:lpstr>
      <vt:lpstr>Porovnání současných technologií</vt:lpstr>
      <vt:lpstr>Porovnání současných technologií</vt:lpstr>
      <vt:lpstr>Monitorovací systém</vt:lpstr>
      <vt:lpstr>Monitorovací systém</vt:lpstr>
      <vt:lpstr>Cíle aplikace</vt:lpstr>
      <vt:lpstr>Metodika</vt:lpstr>
      <vt:lpstr>Implementace</vt:lpstr>
      <vt:lpstr>Návrh pro počítače - grafy</vt:lpstr>
      <vt:lpstr>Návrh pro počítače – karta pacienta</vt:lpstr>
      <vt:lpstr>Analytické moduly</vt:lpstr>
      <vt:lpstr>Jídelní situace</vt:lpstr>
      <vt:lpstr>Jídelní situace</vt:lpstr>
      <vt:lpstr>Jídelní situace</vt:lpstr>
      <vt:lpstr>Nalezené segmenty</vt:lpstr>
      <vt:lpstr>Nalezené segmenty</vt:lpstr>
      <vt:lpstr>Nalezené segmenty</vt:lpstr>
      <vt:lpstr>Mobilní návrh</vt:lpstr>
      <vt:lpstr>Závěr</vt:lpstr>
      <vt:lpstr>Publikace</vt:lpstr>
      <vt:lpstr>Otázky z oponentského posudku</vt:lpstr>
    </vt:vector>
  </TitlesOfParts>
  <Company>EPA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Milan Poláček</dc:creator>
  <cp:lastModifiedBy>Milan Poláček</cp:lastModifiedBy>
  <cp:revision>80</cp:revision>
  <dcterms:created xsi:type="dcterms:W3CDTF">2016-04-13T08:21:40Z</dcterms:created>
  <dcterms:modified xsi:type="dcterms:W3CDTF">2017-06-09T16:29:24Z</dcterms:modified>
</cp:coreProperties>
</file>